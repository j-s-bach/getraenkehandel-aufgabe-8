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64" r:id="rId2"/>
    <p:sldId id="266" r:id="rId3"/>
    <p:sldId id="293" r:id="rId4"/>
    <p:sldId id="270" r:id="rId5"/>
    <p:sldId id="286" r:id="rId6"/>
    <p:sldId id="282" r:id="rId7"/>
    <p:sldId id="283" r:id="rId8"/>
    <p:sldId id="284" r:id="rId9"/>
    <p:sldId id="285" r:id="rId10"/>
    <p:sldId id="272" r:id="rId11"/>
    <p:sldId id="294" r:id="rId12"/>
    <p:sldId id="277" r:id="rId13"/>
    <p:sldId id="278" r:id="rId14"/>
    <p:sldId id="279" r:id="rId15"/>
    <p:sldId id="280" r:id="rId16"/>
    <p:sldId id="281" r:id="rId17"/>
    <p:sldId id="273" r:id="rId18"/>
    <p:sldId id="287" r:id="rId19"/>
    <p:sldId id="288" r:id="rId20"/>
    <p:sldId id="289" r:id="rId21"/>
    <p:sldId id="290" r:id="rId22"/>
    <p:sldId id="291" r:id="rId23"/>
    <p:sldId id="292" r:id="rId24"/>
    <p:sldId id="275" r:id="rId25"/>
    <p:sldId id="297" r:id="rId26"/>
    <p:sldId id="269" r:id="rId27"/>
    <p:sldId id="296" r:id="rId28"/>
    <p:sldId id="295" r:id="rId29"/>
    <p:sldId id="268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56"/>
    <a:srgbClr val="FFFFFF"/>
    <a:srgbClr val="385FA4"/>
    <a:srgbClr val="AD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30" autoAdjust="0"/>
  </p:normalViewPr>
  <p:slideViewPr>
    <p:cSldViewPr snapToGrid="0">
      <p:cViewPr varScale="1">
        <p:scale>
          <a:sx n="78" d="100"/>
          <a:sy n="78" d="100"/>
        </p:scale>
        <p:origin x="8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92935-5E72-4E16-BB7C-989C8F20BD29}" type="datetimeFigureOut">
              <a:rPr lang="de-DE" smtClean="0"/>
              <a:t>18.03.2021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9D3D4-A6D2-42A9-A494-BEF886F45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97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Verweis auf </a:t>
            </a:r>
            <a:r>
              <a:rPr lang="de-DE" dirty="0" err="1"/>
              <a:t>Git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9D3D4-A6D2-42A9-A494-BEF886F45DE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8612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9D3D4-A6D2-42A9-A494-BEF886F45DEE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535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9D3D4-A6D2-42A9-A494-BEF886F45DEE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64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9D3D4-A6D2-42A9-A494-BEF886F45DEE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136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9D3D4-A6D2-42A9-A494-BEF886F45DEE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85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5000"/>
                    </a14:imgEffect>
                    <a14:imgEffect>
                      <a14:brightnessContrast bright="10000"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88" r="10620"/>
          <a:stretch/>
        </p:blipFill>
        <p:spPr>
          <a:xfrm>
            <a:off x="-10274" y="0"/>
            <a:ext cx="12219691" cy="6858000"/>
          </a:xfrm>
          <a:prstGeom prst="rect">
            <a:avLst/>
          </a:prstGeom>
        </p:spPr>
      </p:pic>
      <p:sp>
        <p:nvSpPr>
          <p:cNvPr id="11" name="Rechteck 10"/>
          <p:cNvSpPr/>
          <p:nvPr userDrawn="1"/>
        </p:nvSpPr>
        <p:spPr>
          <a:xfrm>
            <a:off x="7950926" y="165463"/>
            <a:ext cx="4101737" cy="656626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/>
          <p:cNvSpPr txBox="1"/>
          <p:nvPr userDrawn="1"/>
        </p:nvSpPr>
        <p:spPr>
          <a:xfrm>
            <a:off x="8046720" y="243840"/>
            <a:ext cx="392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Präsentation des Praxisberichtes 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9413967" y="2368690"/>
            <a:ext cx="248194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sz="1200" dirty="0"/>
              <a:t>Unternehmen</a:t>
            </a:r>
          </a:p>
          <a:p>
            <a:pPr>
              <a:lnSpc>
                <a:spcPct val="400000"/>
              </a:lnSpc>
            </a:pPr>
            <a:r>
              <a:rPr lang="de-DE" sz="1200" dirty="0"/>
              <a:t>Studiengruppe </a:t>
            </a:r>
          </a:p>
          <a:p>
            <a:pPr>
              <a:lnSpc>
                <a:spcPct val="400000"/>
              </a:lnSpc>
            </a:pPr>
            <a:r>
              <a:rPr lang="de-DE" sz="1200" dirty="0"/>
              <a:t>Martrikelnummer</a:t>
            </a:r>
          </a:p>
          <a:p>
            <a:pPr>
              <a:lnSpc>
                <a:spcPct val="400000"/>
              </a:lnSpc>
            </a:pPr>
            <a:r>
              <a:rPr lang="de-DE" sz="1200" dirty="0"/>
              <a:t>Betrieblicher Betreuer</a:t>
            </a:r>
            <a:endParaRPr lang="de-DE" dirty="0"/>
          </a:p>
          <a:p>
            <a:pPr>
              <a:lnSpc>
                <a:spcPct val="400000"/>
              </a:lnSpc>
            </a:pPr>
            <a:r>
              <a:rPr lang="de-DE" sz="1200" dirty="0"/>
              <a:t>Prüfungskommission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8098971" y="2708383"/>
            <a:ext cx="39536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Ordentlich Studierende/r an der Berufsakademie Rhein-Main</a:t>
            </a:r>
            <a:br>
              <a:rPr lang="de-DE" sz="1200" dirty="0"/>
            </a:br>
            <a:r>
              <a:rPr lang="de-DE" sz="1200" dirty="0"/>
              <a:t>Am Schwimmbad 3, 63322 Rödermark</a:t>
            </a:r>
          </a:p>
          <a:p>
            <a:endParaRPr lang="de-DE" dirty="0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2" hasCustomPrompt="1"/>
          </p:nvPr>
        </p:nvSpPr>
        <p:spPr>
          <a:xfrm>
            <a:off x="9401407" y="3276780"/>
            <a:ext cx="2464524" cy="36512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Unternehmen</a:t>
            </a:r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8094617" y="604222"/>
            <a:ext cx="3879670" cy="1750452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de-DE" sz="2900" kern="1200" dirty="0" smtClean="0">
                <a:solidFill>
                  <a:srgbClr val="385FA4"/>
                </a:solidFill>
                <a:latin typeface="+mn-lt"/>
                <a:ea typeface="+mn-ea"/>
                <a:cs typeface="+mn-cs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8109015" y="2417323"/>
            <a:ext cx="3879850" cy="35083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de-DE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9401407" y="3859464"/>
            <a:ext cx="2466548" cy="40322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AB-00-00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14" hasCustomPrompt="1"/>
          </p:nvPr>
        </p:nvSpPr>
        <p:spPr>
          <a:xfrm>
            <a:off x="9410111" y="4587162"/>
            <a:ext cx="2455820" cy="29979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123456</a:t>
            </a: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5" hasCustomPrompt="1"/>
          </p:nvPr>
        </p:nvSpPr>
        <p:spPr>
          <a:xfrm>
            <a:off x="9410122" y="5325961"/>
            <a:ext cx="2455809" cy="340414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1" name="Textplatzhalter 40"/>
          <p:cNvSpPr>
            <a:spLocks noGrp="1"/>
          </p:cNvSpPr>
          <p:nvPr>
            <p:ph type="body" sz="quarter" idx="16" hasCustomPrompt="1"/>
          </p:nvPr>
        </p:nvSpPr>
        <p:spPr>
          <a:xfrm>
            <a:off x="9413971" y="5905495"/>
            <a:ext cx="2451960" cy="548467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70000"/>
              </a:lnSpc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Vorname Nachname, Vorname Nachname, …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12" y="224268"/>
            <a:ext cx="6105407" cy="121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1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5000"/>
                    </a14:imgEffect>
                    <a14:imgEffect>
                      <a14:brightnessContrast bright="10000"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87" r="79705"/>
          <a:stretch/>
        </p:blipFill>
        <p:spPr>
          <a:xfrm>
            <a:off x="-10510" y="0"/>
            <a:ext cx="1860575" cy="6858000"/>
          </a:xfrm>
          <a:prstGeom prst="rect">
            <a:avLst/>
          </a:prstGeom>
        </p:spPr>
      </p:pic>
      <p:sp>
        <p:nvSpPr>
          <p:cNvPr id="15" name="Rechteck 14"/>
          <p:cNvSpPr/>
          <p:nvPr userDrawn="1"/>
        </p:nvSpPr>
        <p:spPr>
          <a:xfrm>
            <a:off x="1846217" y="-116958"/>
            <a:ext cx="10345783" cy="6475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10633" y="6475228"/>
            <a:ext cx="12192000" cy="414326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93641" y="6498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  |     </a:t>
            </a:r>
            <a:fld id="{C238A64F-967C-46E7-94A8-19ED2318921D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63389" y="6498389"/>
            <a:ext cx="6528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23 von 28 | Rödermark, 19.03.2021</a:t>
            </a:r>
            <a:endParaRPr lang="sv-SE" dirty="0"/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42"/>
          <a:stretch/>
        </p:blipFill>
        <p:spPr>
          <a:xfrm>
            <a:off x="244712" y="224268"/>
            <a:ext cx="1365026" cy="1219430"/>
          </a:xfrm>
          <a:prstGeom prst="rect">
            <a:avLst/>
          </a:prstGeom>
        </p:spPr>
      </p:pic>
      <p:sp>
        <p:nvSpPr>
          <p:cNvPr id="2" name="Textfeld 1"/>
          <p:cNvSpPr txBox="1"/>
          <p:nvPr userDrawn="1"/>
        </p:nvSpPr>
        <p:spPr>
          <a:xfrm>
            <a:off x="2240280" y="483167"/>
            <a:ext cx="8424176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de-DE" sz="4400" kern="1200" dirty="0">
                <a:solidFill>
                  <a:srgbClr val="1E3256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360613" y="1443038"/>
            <a:ext cx="9575800" cy="4914900"/>
          </a:xfrm>
        </p:spPr>
        <p:txBody>
          <a:bodyPr/>
          <a:lstStyle>
            <a:lvl1pPr>
              <a:defRPr sz="3200"/>
            </a:lvl1pPr>
            <a:lvl2pPr marL="685800" indent="-228600">
              <a:buFont typeface="Symbol" panose="05050102010706020507" pitchFamily="18" charset="2"/>
              <a:buChar char="-"/>
              <a:defRPr sz="2800"/>
            </a:lvl2pPr>
            <a:lvl3pPr>
              <a:defRPr sz="2400"/>
            </a:lvl3pPr>
            <a:lvl4pPr marL="1600200" indent="-228600">
              <a:buFont typeface="Symbol" panose="05050102010706020507" pitchFamily="18" charset="2"/>
              <a:buChar char="-"/>
              <a:defRPr sz="2000"/>
            </a:lvl4pPr>
            <a:lvl5pPr marL="2057400" indent="-228600">
              <a:buFont typeface="Wingdings" panose="05000000000000000000" pitchFamily="2" charset="2"/>
              <a:buChar char="Ø"/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3467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239963" y="1285875"/>
            <a:ext cx="9632950" cy="551608"/>
          </a:xfrm>
        </p:spPr>
        <p:txBody>
          <a:bodyPr>
            <a:normAutofit/>
          </a:bodyPr>
          <a:lstStyle>
            <a:lvl1pPr marL="0" indent="0">
              <a:buNone/>
              <a:defRPr kumimoji="0" lang="de-DE" sz="1600" b="0" i="0" u="none" strike="noStrike" kern="1200" cap="none" spc="0" normalizeH="0" baseline="0" dirty="0">
                <a:ln>
                  <a:noFill/>
                </a:ln>
                <a:solidFill>
                  <a:srgbClr val="385FA4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Untertitel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846217" cy="6858000"/>
          </a:xfrm>
          <a:prstGeom prst="rect">
            <a:avLst/>
          </a:prstGeom>
          <a:solidFill>
            <a:srgbClr val="385F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Inhaltsplatzhalter 4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77"/>
          <a:stretch/>
        </p:blipFill>
        <p:spPr>
          <a:xfrm>
            <a:off x="244712" y="234901"/>
            <a:ext cx="1356791" cy="1219430"/>
          </a:xfrm>
          <a:prstGeom prst="rect">
            <a:avLst/>
          </a:prstGeom>
        </p:spPr>
      </p:pic>
      <p:sp>
        <p:nvSpPr>
          <p:cNvPr id="9" name="Titel 4"/>
          <p:cNvSpPr>
            <a:spLocks noGrp="1"/>
          </p:cNvSpPr>
          <p:nvPr>
            <p:ph type="title"/>
          </p:nvPr>
        </p:nvSpPr>
        <p:spPr>
          <a:xfrm>
            <a:off x="2240280" y="414286"/>
            <a:ext cx="9632172" cy="834410"/>
          </a:xfrm>
        </p:spPr>
        <p:txBody>
          <a:bodyPr/>
          <a:lstStyle>
            <a:lvl1pPr>
              <a:defRPr lang="de-DE" sz="4400" kern="1200" dirty="0">
                <a:solidFill>
                  <a:srgbClr val="1E32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10633" y="6475228"/>
            <a:ext cx="12192000" cy="414326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2240280" y="1989228"/>
            <a:ext cx="9632172" cy="4244037"/>
          </a:xfrm>
        </p:spPr>
        <p:txBody>
          <a:bodyPr>
            <a:normAutofit/>
          </a:bodyPr>
          <a:lstStyle>
            <a:lvl1pPr marL="228600" indent="-228600"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1E325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Inhalt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93641" y="6498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  |     </a:t>
            </a:r>
            <a:fld id="{C238A64F-967C-46E7-94A8-19ED2318921D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63389" y="6498389"/>
            <a:ext cx="6528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23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3005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239963" y="1285875"/>
            <a:ext cx="4692527" cy="551608"/>
          </a:xfrm>
        </p:spPr>
        <p:txBody>
          <a:bodyPr>
            <a:normAutofit/>
          </a:bodyPr>
          <a:lstStyle>
            <a:lvl1pPr marL="0" indent="0">
              <a:buNone/>
              <a:defRPr kumimoji="0" lang="de-DE" sz="1600" b="0" i="0" u="none" strike="noStrike" kern="1200" cap="none" spc="0" normalizeH="0" baseline="0" dirty="0">
                <a:ln>
                  <a:noFill/>
                </a:ln>
                <a:solidFill>
                  <a:srgbClr val="385FA4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Untertitel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846217" cy="6858000"/>
          </a:xfrm>
          <a:prstGeom prst="rect">
            <a:avLst/>
          </a:prstGeom>
          <a:solidFill>
            <a:srgbClr val="385F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Inhaltsplatzhalter 4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77"/>
          <a:stretch/>
        </p:blipFill>
        <p:spPr>
          <a:xfrm>
            <a:off x="244712" y="234901"/>
            <a:ext cx="1356791" cy="1219430"/>
          </a:xfrm>
          <a:prstGeom prst="rect">
            <a:avLst/>
          </a:prstGeom>
        </p:spPr>
      </p:pic>
      <p:sp>
        <p:nvSpPr>
          <p:cNvPr id="9" name="Titel 4"/>
          <p:cNvSpPr>
            <a:spLocks noGrp="1"/>
          </p:cNvSpPr>
          <p:nvPr>
            <p:ph type="title"/>
          </p:nvPr>
        </p:nvSpPr>
        <p:spPr>
          <a:xfrm>
            <a:off x="2240281" y="414286"/>
            <a:ext cx="4692148" cy="834410"/>
          </a:xfrm>
        </p:spPr>
        <p:txBody>
          <a:bodyPr/>
          <a:lstStyle>
            <a:lvl1pPr>
              <a:defRPr lang="de-DE" sz="4400" kern="1200" dirty="0">
                <a:solidFill>
                  <a:srgbClr val="1E32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10633" y="6475228"/>
            <a:ext cx="12192000" cy="414326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2240280" y="1989228"/>
            <a:ext cx="4692148" cy="4244037"/>
          </a:xfrm>
        </p:spPr>
        <p:txBody>
          <a:bodyPr>
            <a:normAutofit/>
          </a:bodyPr>
          <a:lstStyle>
            <a:lvl1pPr marL="228600" indent="-228600"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1E325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Inhalt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93641" y="6498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  |     </a:t>
            </a:r>
            <a:fld id="{C238A64F-967C-46E7-94A8-19ED2318921D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63389" y="6498389"/>
            <a:ext cx="6528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23 von 28 | Rödermark, 19.03.2021</a:t>
            </a:r>
            <a:endParaRPr lang="sv-S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3"/>
          </p:nvPr>
        </p:nvSpPr>
        <p:spPr>
          <a:xfrm>
            <a:off x="7244377" y="413902"/>
            <a:ext cx="4692464" cy="581897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799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846217" cy="6858000"/>
          </a:xfrm>
          <a:prstGeom prst="rect">
            <a:avLst/>
          </a:prstGeom>
          <a:solidFill>
            <a:srgbClr val="385F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Inhaltsplatzhalter 4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77"/>
          <a:stretch/>
        </p:blipFill>
        <p:spPr>
          <a:xfrm>
            <a:off x="244712" y="234901"/>
            <a:ext cx="1356791" cy="1219430"/>
          </a:xfrm>
          <a:prstGeom prst="rect">
            <a:avLst/>
          </a:prstGeom>
        </p:spPr>
      </p:pic>
      <p:sp>
        <p:nvSpPr>
          <p:cNvPr id="12" name="Rechteck 11"/>
          <p:cNvSpPr/>
          <p:nvPr userDrawn="1"/>
        </p:nvSpPr>
        <p:spPr>
          <a:xfrm>
            <a:off x="10633" y="6475228"/>
            <a:ext cx="12192000" cy="414326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93641" y="6498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  |     </a:t>
            </a:r>
            <a:fld id="{C238A64F-967C-46E7-94A8-19ED2318921D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63389" y="6498389"/>
            <a:ext cx="6528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23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4808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0633" y="6475228"/>
            <a:ext cx="12192000" cy="414326"/>
          </a:xfrm>
          <a:prstGeom prst="rect">
            <a:avLst/>
          </a:prstGeom>
          <a:solidFill>
            <a:srgbClr val="1E32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93641" y="6498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  |     </a:t>
            </a:r>
            <a:fld id="{C238A64F-967C-46E7-94A8-19ED2318921D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763389" y="6498389"/>
            <a:ext cx="6528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Seite 23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26996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76215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23 von 28 | Rödermark, 19.03.2021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8A64F-967C-46E7-94A8-19ED2318921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775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twitter.com/XT3000" TargetMode="External"/><Relationship Id="rId2" Type="http://schemas.openxmlformats.org/officeDocument/2006/relationships/hyperlink" Target="https://materialdesignicon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laticon.com/de/kostenlose-ic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4F4092AE-3489-4C74-A519-F937837AAD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93BB93C4-EC54-4B9A-A34D-EBD934A9A3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17FB63C2-2E1C-4F6B-9D9F-8A18FD38CE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D593443D-D89A-4167-92B6-FF6E8106F4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DE6CD024-9E4B-4C40-85F1-B1AC7BCD01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4">
            <a:extLst>
              <a:ext uri="{FF2B5EF4-FFF2-40B4-BE49-F238E27FC236}">
                <a16:creationId xmlns:a16="http://schemas.microsoft.com/office/drawing/2014/main" id="{2BBA1E2E-9FD4-4392-BE37-FDD0DEA74F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1407" y="5315202"/>
            <a:ext cx="2466548" cy="403225"/>
          </a:xfrm>
        </p:spPr>
        <p:txBody>
          <a:bodyPr/>
          <a:lstStyle/>
          <a:p>
            <a:endParaRPr lang="de-DE"/>
          </a:p>
        </p:txBody>
      </p:sp>
      <p:sp>
        <p:nvSpPr>
          <p:cNvPr id="36" name="Textplatzhalter 5">
            <a:extLst>
              <a:ext uri="{FF2B5EF4-FFF2-40B4-BE49-F238E27FC236}">
                <a16:creationId xmlns:a16="http://schemas.microsoft.com/office/drawing/2014/main" id="{9C32D2DE-5A2F-489A-AA4B-E5C0D5A83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10111" y="6273696"/>
            <a:ext cx="2455820" cy="299799"/>
          </a:xfrm>
        </p:spPr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D58DE081-6438-4E4E-9696-03FC10EB643A}"/>
              </a:ext>
            </a:extLst>
          </p:cNvPr>
          <p:cNvSpPr/>
          <p:nvPr/>
        </p:nvSpPr>
        <p:spPr>
          <a:xfrm>
            <a:off x="7825563" y="90693"/>
            <a:ext cx="4283254" cy="6676614"/>
          </a:xfrm>
          <a:prstGeom prst="roundRect">
            <a:avLst>
              <a:gd name="adj" fmla="val 342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403A9AC-23DD-47B1-B40E-2FAB5DA0BB01}"/>
              </a:ext>
            </a:extLst>
          </p:cNvPr>
          <p:cNvSpPr txBox="1"/>
          <p:nvPr/>
        </p:nvSpPr>
        <p:spPr>
          <a:xfrm>
            <a:off x="7826369" y="241869"/>
            <a:ext cx="42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latin typeface="Verdana" panose="020B0604030504040204" pitchFamily="34" charset="0"/>
                <a:ea typeface="Verdana" panose="020B0604030504040204" pitchFamily="34" charset="0"/>
              </a:rPr>
              <a:t>Getränkegroßhandel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264918A-27F7-4C06-AD10-B2C6BD688461}"/>
              </a:ext>
            </a:extLst>
          </p:cNvPr>
          <p:cNvSpPr txBox="1"/>
          <p:nvPr/>
        </p:nvSpPr>
        <p:spPr>
          <a:xfrm>
            <a:off x="7941358" y="3225039"/>
            <a:ext cx="4182557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/>
              <a:t>Jan Bauer (208765) </a:t>
            </a:r>
          </a:p>
          <a:p>
            <a:pPr algn="ctr"/>
            <a:r>
              <a:rPr lang="de-DE" dirty="0"/>
              <a:t>Simon </a:t>
            </a:r>
            <a:r>
              <a:rPr lang="de-DE" dirty="0" err="1"/>
              <a:t>Hoim</a:t>
            </a:r>
            <a:r>
              <a:rPr lang="de-DE" dirty="0"/>
              <a:t> </a:t>
            </a:r>
            <a:r>
              <a:rPr lang="de-DE"/>
              <a:t>(208615</a:t>
            </a:r>
            <a:r>
              <a:rPr lang="de-DE" dirty="0"/>
              <a:t>)</a:t>
            </a:r>
          </a:p>
          <a:p>
            <a:pPr algn="ctr"/>
            <a:r>
              <a:rPr lang="de-DE" dirty="0"/>
              <a:t>Sebastian Kirner (200017) </a:t>
            </a:r>
          </a:p>
          <a:p>
            <a:pPr algn="ctr"/>
            <a:r>
              <a:rPr lang="de-DE" dirty="0"/>
              <a:t>Felix Köhler (208619) </a:t>
            </a:r>
          </a:p>
          <a:p>
            <a:pPr algn="ctr"/>
            <a:r>
              <a:rPr lang="de-DE" dirty="0"/>
              <a:t>Jonas Kroker (200001)</a:t>
            </a:r>
          </a:p>
          <a:p>
            <a:pPr algn="ctr"/>
            <a:r>
              <a:rPr lang="de-DE" dirty="0"/>
              <a:t>Cedric Schmitt (200005)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D7FFF29-C80C-4995-9661-6C0E9AC02B3E}"/>
              </a:ext>
            </a:extLst>
          </p:cNvPr>
          <p:cNvSpPr txBox="1"/>
          <p:nvPr/>
        </p:nvSpPr>
        <p:spPr>
          <a:xfrm>
            <a:off x="7815121" y="5324615"/>
            <a:ext cx="428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BAFA, DB Systel GmbH, Commerzbank AG, Volksbank, Werkstoffbit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8EEADC2-5385-41E1-8CA6-A0215155D843}"/>
              </a:ext>
            </a:extLst>
          </p:cNvPr>
          <p:cNvSpPr txBox="1"/>
          <p:nvPr/>
        </p:nvSpPr>
        <p:spPr>
          <a:xfrm>
            <a:off x="7832102" y="5827934"/>
            <a:ext cx="428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Unternehmen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C09B6351-F834-4F8F-AE65-1A42E35C9480}"/>
              </a:ext>
            </a:extLst>
          </p:cNvPr>
          <p:cNvSpPr txBox="1"/>
          <p:nvPr/>
        </p:nvSpPr>
        <p:spPr>
          <a:xfrm>
            <a:off x="7832102" y="6174960"/>
            <a:ext cx="42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Herr Jürgen Rolf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4D31716A-8EEC-449A-A013-693B333940FB}"/>
              </a:ext>
            </a:extLst>
          </p:cNvPr>
          <p:cNvSpPr txBox="1"/>
          <p:nvPr/>
        </p:nvSpPr>
        <p:spPr>
          <a:xfrm>
            <a:off x="7827301" y="6410746"/>
            <a:ext cx="4287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Dozent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EC834423-02BB-45DB-98E6-BA47AB010845}"/>
              </a:ext>
            </a:extLst>
          </p:cNvPr>
          <p:cNvSpPr txBox="1"/>
          <p:nvPr/>
        </p:nvSpPr>
        <p:spPr>
          <a:xfrm>
            <a:off x="7825563" y="2831130"/>
            <a:ext cx="428715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1200" dirty="0">
                <a:cs typeface="Calibri"/>
              </a:rPr>
              <a:t>Studiengruppe</a:t>
            </a:r>
            <a:endParaRPr lang="de-DE" sz="12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D10F985-35B1-46A0-A456-4311C3668055}"/>
              </a:ext>
            </a:extLst>
          </p:cNvPr>
          <p:cNvSpPr txBox="1"/>
          <p:nvPr/>
        </p:nvSpPr>
        <p:spPr>
          <a:xfrm>
            <a:off x="7810465" y="2551094"/>
            <a:ext cx="42964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>
                <a:cs typeface="Calibri"/>
              </a:rPr>
              <a:t>AI_WS20_III</a:t>
            </a:r>
            <a:endParaRPr lang="de-DE" dirty="0"/>
          </a:p>
        </p:txBody>
      </p:sp>
      <p:pic>
        <p:nvPicPr>
          <p:cNvPr id="3" name="Grafik 2" descr="Ein Bild, das Text, Schild, Licht enthält.&#10;&#10;Automatisch generierte Beschreibung">
            <a:extLst>
              <a:ext uri="{FF2B5EF4-FFF2-40B4-BE49-F238E27FC236}">
                <a16:creationId xmlns:a16="http://schemas.microsoft.com/office/drawing/2014/main" id="{E7CD688E-A021-471E-A8D7-69959B4093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205" y="643695"/>
            <a:ext cx="1600947" cy="1814892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2B25F03B-CBB5-44A0-BC00-D093A793C4B9}"/>
              </a:ext>
            </a:extLst>
          </p:cNvPr>
          <p:cNvSpPr txBox="1"/>
          <p:nvPr/>
        </p:nvSpPr>
        <p:spPr>
          <a:xfrm>
            <a:off x="7832099" y="4846134"/>
            <a:ext cx="4287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Studierende (Matrikelnummer)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5A60CFF-684F-493A-AEC3-08E979BD3EDB}"/>
              </a:ext>
            </a:extLst>
          </p:cNvPr>
          <p:cNvSpPr txBox="1"/>
          <p:nvPr/>
        </p:nvSpPr>
        <p:spPr>
          <a:xfrm>
            <a:off x="9622599" y="2176819"/>
            <a:ext cx="70615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" dirty="0">
                <a:latin typeface="3 of 9 Barcode" panose="04027200000000000000" pitchFamily="82" charset="0"/>
              </a:rPr>
              <a:t>Saftladen.jar</a:t>
            </a:r>
          </a:p>
        </p:txBody>
      </p:sp>
    </p:spTree>
    <p:extLst>
      <p:ext uri="{BB962C8B-B14F-4D97-AF65-F5344CB8AC3E}">
        <p14:creationId xmlns:p14="http://schemas.microsoft.com/office/powerpoint/2010/main" val="103076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/>
          <p:cNvSpPr>
            <a:spLocks noGrp="1"/>
          </p:cNvSpPr>
          <p:nvPr>
            <p:ph type="body" sz="quarter" idx="10"/>
          </p:nvPr>
        </p:nvSpPr>
        <p:spPr>
          <a:xfrm>
            <a:off x="2361041" y="1473518"/>
            <a:ext cx="9575800" cy="49149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Aufgabenbeschreibung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Darstellung von Lösungsalternativen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Begründete Auswahl einer Alternative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Beschreibung des Programms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Programmvorführung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Fazit &amp; Ausblick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Quellen</a:t>
            </a:r>
          </a:p>
          <a:p>
            <a:pPr>
              <a:buFont typeface="Wingdings" panose="05000000000000000000" pitchFamily="2" charset="2"/>
              <a:buChar char="§"/>
            </a:pPr>
            <a:endParaRPr lang="de-DE" dirty="0">
              <a:solidFill>
                <a:srgbClr val="1E3256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B84778-7931-47D5-8825-3722FFEA0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674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305016A-8083-4AB1-A855-058FC233D1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Jonas Kroker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EB493B1-D794-4A83-8CEB-2097A5A9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Aufgabenbeschreibung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67CA7F-64F7-4A49-B7DE-E92C224740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32A7CA32-FA82-466E-9B72-81378A99A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386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9C3DCCD-B026-4F66-97AE-33256E347D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3E9183E-5D5E-452A-8EDA-E89849D9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Aufgabenbeschreibung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6824EA-FCF1-4BF7-9A01-76BCD05C13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700" dirty="0"/>
              <a:t>Erstellung eines Lagerprogramms mit vordefinierten Sollbestand und Standorten</a:t>
            </a:r>
          </a:p>
          <a:p>
            <a:r>
              <a:rPr lang="de-DE" sz="1700" dirty="0"/>
              <a:t>Eine Klassenhierarchie soll abgebildet werden</a:t>
            </a:r>
          </a:p>
          <a:p>
            <a:r>
              <a:rPr lang="de-DE" sz="1700" dirty="0"/>
              <a:t>Alle Lagerbestände sind zu Programmstart vorhanden</a:t>
            </a:r>
          </a:p>
          <a:p>
            <a:r>
              <a:rPr lang="de-DE" sz="1700" dirty="0"/>
              <a:t>Bei jeder Funktion wird der Lagerbestand aktualisiert</a:t>
            </a:r>
          </a:p>
          <a:p>
            <a:r>
              <a:rPr lang="de-DE" sz="1700" dirty="0"/>
              <a:t>Kästen können je nach Getränkesorte zu anderen Standorten umgebucht werden. Bei nicht vollständigen Kästen erfolgt keine Umbuchung</a:t>
            </a:r>
          </a:p>
          <a:p>
            <a:r>
              <a:rPr lang="de-DE" sz="1700" dirty="0"/>
              <a:t>Lagerbestände können vom Zentrallager komplett oder einzeln aufgefüllt werden</a:t>
            </a:r>
          </a:p>
          <a:p>
            <a:r>
              <a:rPr lang="de-DE" sz="1700" dirty="0"/>
              <a:t>Es können sowohl Flaschen als auch Kästen verkauft werden</a:t>
            </a:r>
          </a:p>
          <a:p>
            <a:r>
              <a:rPr lang="de-DE" sz="1700" dirty="0"/>
              <a:t>Fehlende Kästen können für jeden Standort nachbestellt werden</a:t>
            </a:r>
          </a:p>
          <a:p>
            <a:r>
              <a:rPr lang="de-DE" sz="1700" dirty="0"/>
              <a:t>Eine Detailansicht soll die Informationen Glas, Plastik, Fruchtgehalt und Alkoholgehalt anzeigen</a:t>
            </a:r>
          </a:p>
          <a:p>
            <a:r>
              <a:rPr lang="de-DE" sz="1700" dirty="0"/>
              <a:t>Es gibt keine leeren Kästen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802BB9B9-1028-4BF5-8500-AFC22BEFE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4742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4752677-D7DF-49A6-8B50-0DC31120F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Simon </a:t>
            </a:r>
            <a:r>
              <a:rPr lang="de-DE" dirty="0" err="1"/>
              <a:t>Hoim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3D23CDF-15B0-402B-8616-5A846543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Lösungsalternativen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7EFF4145-7C6E-44FB-B98F-E6DC9C59F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4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12073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941B1D0-B6EA-4159-9F05-3599F7F01E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Anpassen der Aufgabenstellung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24A5BC-8612-4465-94A0-9A44FAE8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Lösungsalternativen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090184-0CEB-49AB-8154-A69A6250C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1800" dirty="0"/>
              <a:t>Vorgegebene Startkapazität des Zentrallagers anpassen</a:t>
            </a:r>
          </a:p>
          <a:p>
            <a:endParaRPr lang="de-DE" dirty="0"/>
          </a:p>
          <a:p>
            <a:r>
              <a:rPr lang="de-DE" sz="1800" dirty="0"/>
              <a:t>Ermöglicht das Befüllen aller Standorte beim Start des Programmes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BCC4CEB5-9E5A-418B-81E7-3A81E829A67F}"/>
              </a:ext>
            </a:extLst>
          </p:cNvPr>
          <p:cNvGraphicFramePr>
            <a:graphicFrameLocks noGrp="1"/>
          </p:cNvGraphicFramePr>
          <p:nvPr/>
        </p:nvGraphicFramePr>
        <p:xfrm>
          <a:off x="2430106" y="2976245"/>
          <a:ext cx="8128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550779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77286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440382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0990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Getränkeart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Standort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Standort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Zentrallager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4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Mineralwasser, still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1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Mineralwasser, mit Kohlensäure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6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Apfelsaft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42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Orangensaft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820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Limonade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782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200</a:t>
                      </a:r>
                      <a:r>
                        <a:rPr lang="de-DE" dirty="0"/>
                        <a:t> </a:t>
                      </a:r>
                      <a:r>
                        <a:rPr lang="de-DE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dirty="0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300</a:t>
                      </a:r>
                      <a:endParaRPr lang="de-DE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98155"/>
                  </a:ext>
                </a:extLst>
              </a:tr>
            </a:tbl>
          </a:graphicData>
        </a:graphic>
      </p:graphicFrame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035965E5-5DF0-48C0-8C16-86CCB7C5E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5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5618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941B1D0-B6EA-4159-9F05-3599F7F01E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Klassenstruktur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24A5BC-8612-4465-94A0-9A44FAE8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Lösungsalternativen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090184-0CEB-49AB-8154-A69A6250C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Alle Getränkesorten als eine Klasse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Extraattribut als Klasse oder String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Lagerbestand und maximale Kapazität in</a:t>
            </a:r>
          </a:p>
          <a:p>
            <a:pPr marL="0" indent="0">
              <a:buNone/>
            </a:pPr>
            <a:r>
              <a:rPr lang="de-DE" sz="1800" dirty="0"/>
              <a:t>   Getränkesorten Klasse</a:t>
            </a:r>
            <a:endParaRPr lang="de-DE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Lager mit Bestand und Kapazität als eigene Klasse</a:t>
            </a:r>
          </a:p>
          <a:p>
            <a:endParaRPr lang="de-DE" dirty="0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2B30FD8B-A8C5-497D-8CDE-87043111D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179" y="1921642"/>
            <a:ext cx="2200275" cy="1847850"/>
          </a:xfrm>
          <a:prstGeom prst="rect">
            <a:avLst/>
          </a:prstGeo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6FE1C65B-605D-4D54-9C50-7823419AF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179" y="1921642"/>
            <a:ext cx="3629025" cy="1847850"/>
          </a:xfrm>
          <a:prstGeom prst="rect">
            <a:avLst/>
          </a:prstGeom>
        </p:spPr>
      </p:pic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1EB2C00B-DEF5-4634-8A6B-F80646D47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179" y="1921642"/>
            <a:ext cx="3629025" cy="2705100"/>
          </a:xfrm>
          <a:prstGeom prst="rect">
            <a:avLst/>
          </a:prstGeom>
        </p:spPr>
      </p:pic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1B4F6A82-67EC-4232-BBE7-D08143CE5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166" y="4656567"/>
            <a:ext cx="1543050" cy="1657350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2273B9E6-345E-4563-8F69-259395522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6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0501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941B1D0-B6EA-4159-9F05-3599F7F01E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Verwalten der Daten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24A5BC-8612-4465-94A0-9A44FAE8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Lösungsalternativen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090184-0CEB-49AB-8154-A69A6250C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32181" y="1992571"/>
            <a:ext cx="6027184" cy="3531151"/>
          </a:xfrm>
        </p:spPr>
        <p:txBody>
          <a:bodyPr>
            <a:normAutofit/>
          </a:bodyPr>
          <a:lstStyle/>
          <a:p>
            <a:r>
              <a:rPr lang="de-DE" sz="1800" dirty="0"/>
              <a:t>Serialisieren und Deserialisierung der Stände</a:t>
            </a: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Server-Client-System</a:t>
            </a:r>
          </a:p>
          <a:p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Datenbank zur Verwaltung der aktuellen Stände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E9656995-EF90-41F6-93D5-783663751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222" y="2972474"/>
            <a:ext cx="2936616" cy="160748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807074D-0B45-4345-8DE6-2A03EA085B29}"/>
              </a:ext>
            </a:extLst>
          </p:cNvPr>
          <p:cNvSpPr txBox="1"/>
          <p:nvPr/>
        </p:nvSpPr>
        <p:spPr>
          <a:xfrm>
            <a:off x="8373877" y="4839795"/>
            <a:ext cx="3141306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Location(</a:t>
            </a:r>
            <a:r>
              <a:rPr lang="de-DE" sz="1200" u="sng" dirty="0" err="1">
                <a:latin typeface="Arial Narrow" panose="020B0606020202030204" pitchFamily="34" charset="0"/>
                <a:cs typeface="Helvetica" panose="020B0604020202020204" pitchFamily="34" charset="0"/>
              </a:rPr>
              <a:t>id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name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Drink(</a:t>
            </a:r>
            <a:r>
              <a:rPr lang="de-DE" sz="1200" u="sng" dirty="0" err="1">
                <a:latin typeface="Arial Narrow" panose="020B0606020202030204" pitchFamily="34" charset="0"/>
                <a:cs typeface="Helvetica" panose="020B0604020202020204" pitchFamily="34" charset="0"/>
              </a:rPr>
              <a:t>id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name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bottlesInBox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DrinkAttribute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(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id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name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value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CombinedDrink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(</a:t>
            </a:r>
            <a:r>
              <a:rPr lang="de-DE" sz="1200" u="sng" dirty="0" err="1">
                <a:latin typeface="Arial Narrow" panose="020B0606020202030204" pitchFamily="34" charset="0"/>
                <a:cs typeface="Helvetica" panose="020B0604020202020204" pitchFamily="34" charset="0"/>
              </a:rPr>
              <a:t>id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#attributeId, #drinkId)</a:t>
            </a:r>
          </a:p>
          <a:p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Storage(#locationid, #combinedid,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capacity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, </a:t>
            </a:r>
            <a:r>
              <a:rPr lang="de-DE" sz="1200" dirty="0" err="1">
                <a:latin typeface="Arial Narrow" panose="020B0606020202030204" pitchFamily="34" charset="0"/>
                <a:cs typeface="Helvetica" panose="020B0604020202020204" pitchFamily="34" charset="0"/>
              </a:rPr>
              <a:t>stored</a:t>
            </a:r>
            <a:r>
              <a:rPr lang="de-DE" sz="1200" dirty="0">
                <a:latin typeface="Arial Narrow" panose="020B060602020203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11" name="Grafik 10" descr="Computer Silhouette">
            <a:extLst>
              <a:ext uri="{FF2B5EF4-FFF2-40B4-BE49-F238E27FC236}">
                <a16:creationId xmlns:a16="http://schemas.microsoft.com/office/drawing/2014/main" id="{3647A6C1-01DF-4E71-950A-FA0FD1989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9772" y="1719235"/>
            <a:ext cx="710681" cy="710681"/>
          </a:xfrm>
          <a:prstGeom prst="rect">
            <a:avLst/>
          </a:prstGeom>
        </p:spPr>
      </p:pic>
      <p:pic>
        <p:nvPicPr>
          <p:cNvPr id="13" name="Grafik 12" descr="Platte Silhouette">
            <a:extLst>
              <a:ext uri="{FF2B5EF4-FFF2-40B4-BE49-F238E27FC236}">
                <a16:creationId xmlns:a16="http://schemas.microsoft.com/office/drawing/2014/main" id="{F202D7B3-AE9C-4DAA-B51E-00EF5128D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3361" y="2244044"/>
            <a:ext cx="601610" cy="601610"/>
          </a:xfrm>
          <a:prstGeom prst="rect">
            <a:avLst/>
          </a:prstGeom>
        </p:spPr>
      </p:pic>
      <p:pic>
        <p:nvPicPr>
          <p:cNvPr id="14" name="Grafik 13" descr="Computer Silhouette">
            <a:extLst>
              <a:ext uri="{FF2B5EF4-FFF2-40B4-BE49-F238E27FC236}">
                <a16:creationId xmlns:a16="http://schemas.microsoft.com/office/drawing/2014/main" id="{A3601B62-027D-4BFA-97C4-9008E07A7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1692" y="1669049"/>
            <a:ext cx="710681" cy="710681"/>
          </a:xfrm>
          <a:prstGeom prst="rect">
            <a:avLst/>
          </a:prstGeom>
        </p:spPr>
      </p:pic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623E62F6-93BD-449F-B86C-E4912B9655D3}"/>
              </a:ext>
            </a:extLst>
          </p:cNvPr>
          <p:cNvSpPr/>
          <p:nvPr/>
        </p:nvSpPr>
        <p:spPr>
          <a:xfrm rot="20498061">
            <a:off x="10393788" y="2203789"/>
            <a:ext cx="306572" cy="18238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A21F229B-2F97-4497-B6E9-485E02CBCB2C}"/>
              </a:ext>
            </a:extLst>
          </p:cNvPr>
          <p:cNvSpPr/>
          <p:nvPr/>
        </p:nvSpPr>
        <p:spPr>
          <a:xfrm rot="902325">
            <a:off x="9219976" y="2203788"/>
            <a:ext cx="306572" cy="18238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Wiedergabe mit einfarbiger Füllung">
            <a:extLst>
              <a:ext uri="{FF2B5EF4-FFF2-40B4-BE49-F238E27FC236}">
                <a16:creationId xmlns:a16="http://schemas.microsoft.com/office/drawing/2014/main" id="{52A3C826-00B7-4F67-BA63-5A664035C7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8243" y="1864140"/>
            <a:ext cx="230588" cy="230588"/>
          </a:xfrm>
          <a:prstGeom prst="rect">
            <a:avLst/>
          </a:prstGeom>
        </p:spPr>
      </p:pic>
      <p:pic>
        <p:nvPicPr>
          <p:cNvPr id="24" name="Grafik 23" descr="Potenz mit einfarbiger Füllung">
            <a:extLst>
              <a:ext uri="{FF2B5EF4-FFF2-40B4-BE49-F238E27FC236}">
                <a16:creationId xmlns:a16="http://schemas.microsoft.com/office/drawing/2014/main" id="{52E028AD-3C11-46C1-895B-0E81ECC7FA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80402" y="1920227"/>
            <a:ext cx="224452" cy="224452"/>
          </a:xfrm>
          <a:prstGeom prst="rect">
            <a:avLst/>
          </a:prstGeom>
        </p:spPr>
      </p:pic>
      <p:sp>
        <p:nvSpPr>
          <p:cNvPr id="16" name="Fußzeilenplatzhalter 3">
            <a:extLst>
              <a:ext uri="{FF2B5EF4-FFF2-40B4-BE49-F238E27FC236}">
                <a16:creationId xmlns:a16="http://schemas.microsoft.com/office/drawing/2014/main" id="{4A492D04-262C-4053-9EE0-35462D6A1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7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6814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941B1D0-B6EA-4159-9F05-3599F7F01E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Visualisierung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224A5BC-8612-4465-94A0-9A44FAE8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Lösungsalternativen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090184-0CEB-49AB-8154-A69A6250C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1800" dirty="0"/>
              <a:t>Konsole zum visualisieren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sz="1800" dirty="0"/>
              <a:t>Browser basierte Visualisierung</a:t>
            </a:r>
          </a:p>
          <a:p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10D5A3E-D475-4B30-B2EC-CBA92A88D854}"/>
              </a:ext>
            </a:extLst>
          </p:cNvPr>
          <p:cNvSpPr txBox="1"/>
          <p:nvPr/>
        </p:nvSpPr>
        <p:spPr>
          <a:xfrm>
            <a:off x="7669309" y="2168386"/>
            <a:ext cx="3794449" cy="120032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Standort1:Apfelsaft	  200</a:t>
            </a:r>
            <a:b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Orangensaft 150</a:t>
            </a:r>
          </a:p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Bier	  100</a:t>
            </a:r>
          </a:p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Wasser	  200</a:t>
            </a:r>
          </a:p>
          <a:p>
            <a:endParaRPr 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:&gt;</a:t>
            </a:r>
            <a:r>
              <a:rPr lang="de-DE" sz="1200" i="1" dirty="0">
                <a:latin typeface="Courier New" panose="02070309020205020404" pitchFamily="49" charset="0"/>
                <a:cs typeface="Courier New" panose="02070309020205020404" pitchFamily="49" charset="0"/>
              </a:rPr>
              <a:t>verkaufe Wasser 20</a:t>
            </a:r>
            <a:r>
              <a:rPr lang="de-DE" sz="1200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352ABD7-F4D5-42B3-B9D0-50BAFC9E683C}"/>
              </a:ext>
            </a:extLst>
          </p:cNvPr>
          <p:cNvSpPr/>
          <p:nvPr/>
        </p:nvSpPr>
        <p:spPr>
          <a:xfrm>
            <a:off x="7669310" y="2016641"/>
            <a:ext cx="3794448" cy="15174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25D79B4-5D96-43BF-B669-0D7688DCBA99}"/>
              </a:ext>
            </a:extLst>
          </p:cNvPr>
          <p:cNvCxnSpPr>
            <a:cxnSpLocks/>
          </p:cNvCxnSpPr>
          <p:nvPr/>
        </p:nvCxnSpPr>
        <p:spPr>
          <a:xfrm>
            <a:off x="10871944" y="2143195"/>
            <a:ext cx="147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601F1BFC-CDAA-488C-8D7B-ABBB8F7EA26D}"/>
              </a:ext>
            </a:extLst>
          </p:cNvPr>
          <p:cNvSpPr/>
          <p:nvPr/>
        </p:nvSpPr>
        <p:spPr>
          <a:xfrm>
            <a:off x="11113900" y="2035054"/>
            <a:ext cx="142874" cy="12491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Multiplikationszeichen 16">
            <a:extLst>
              <a:ext uri="{FF2B5EF4-FFF2-40B4-BE49-F238E27FC236}">
                <a16:creationId xmlns:a16="http://schemas.microsoft.com/office/drawing/2014/main" id="{036DC2CE-972E-48A0-A2EB-A420668E427A}"/>
              </a:ext>
            </a:extLst>
          </p:cNvPr>
          <p:cNvSpPr/>
          <p:nvPr/>
        </p:nvSpPr>
        <p:spPr>
          <a:xfrm>
            <a:off x="11268393" y="1990116"/>
            <a:ext cx="195262" cy="223801"/>
          </a:xfrm>
          <a:prstGeom prst="mathMultiply">
            <a:avLst>
              <a:gd name="adj1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5047035-FA4C-4CA6-A18A-639BAE9B9E11}"/>
              </a:ext>
            </a:extLst>
          </p:cNvPr>
          <p:cNvSpPr/>
          <p:nvPr/>
        </p:nvSpPr>
        <p:spPr>
          <a:xfrm>
            <a:off x="7651737" y="3696300"/>
            <a:ext cx="3794346" cy="2233126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C0D6DFF-1BAD-4935-8A37-9A2E2829CEE7}"/>
              </a:ext>
            </a:extLst>
          </p:cNvPr>
          <p:cNvSpPr txBox="1"/>
          <p:nvPr/>
        </p:nvSpPr>
        <p:spPr>
          <a:xfrm>
            <a:off x="7634062" y="3837140"/>
            <a:ext cx="119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Standort1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883F4D3E-6C5A-46CE-97F8-6D924A19826B}"/>
              </a:ext>
            </a:extLst>
          </p:cNvPr>
          <p:cNvSpPr/>
          <p:nvPr/>
        </p:nvSpPr>
        <p:spPr>
          <a:xfrm>
            <a:off x="7838349" y="4192676"/>
            <a:ext cx="914400" cy="6469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313D9B8-578B-46F1-A6B7-154D7A7E8263}"/>
              </a:ext>
            </a:extLst>
          </p:cNvPr>
          <p:cNvSpPr txBox="1"/>
          <p:nvPr/>
        </p:nvSpPr>
        <p:spPr>
          <a:xfrm>
            <a:off x="7925434" y="4157809"/>
            <a:ext cx="7402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Bier</a:t>
            </a:r>
            <a:br>
              <a:rPr lang="de-DE" dirty="0"/>
            </a:br>
            <a:r>
              <a:rPr lang="de-DE" sz="800" dirty="0"/>
              <a:t>40/100</a:t>
            </a:r>
            <a:endParaRPr lang="de-DE" dirty="0"/>
          </a:p>
        </p:txBody>
      </p:sp>
      <p:sp>
        <p:nvSpPr>
          <p:cNvPr id="23" name="Additionszeichen 22">
            <a:extLst>
              <a:ext uri="{FF2B5EF4-FFF2-40B4-BE49-F238E27FC236}">
                <a16:creationId xmlns:a16="http://schemas.microsoft.com/office/drawing/2014/main" id="{D3A5635E-98B5-4BFA-A3B3-862B9870F83A}"/>
              </a:ext>
            </a:extLst>
          </p:cNvPr>
          <p:cNvSpPr/>
          <p:nvPr/>
        </p:nvSpPr>
        <p:spPr>
          <a:xfrm>
            <a:off x="7937874" y="4570482"/>
            <a:ext cx="217715" cy="238407"/>
          </a:xfrm>
          <a:prstGeom prst="mathPl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Minuszeichen 23">
            <a:extLst>
              <a:ext uri="{FF2B5EF4-FFF2-40B4-BE49-F238E27FC236}">
                <a16:creationId xmlns:a16="http://schemas.microsoft.com/office/drawing/2014/main" id="{C91505F0-B7EA-4A0B-80DB-4519042C1610}"/>
              </a:ext>
            </a:extLst>
          </p:cNvPr>
          <p:cNvSpPr/>
          <p:nvPr/>
        </p:nvSpPr>
        <p:spPr>
          <a:xfrm>
            <a:off x="8447948" y="4626960"/>
            <a:ext cx="217715" cy="125452"/>
          </a:xfrm>
          <a:prstGeom prst="mathMin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90FBB63-1F03-4A75-A54D-B4B8DD3B2C43}"/>
              </a:ext>
            </a:extLst>
          </p:cNvPr>
          <p:cNvSpPr/>
          <p:nvPr/>
        </p:nvSpPr>
        <p:spPr>
          <a:xfrm>
            <a:off x="9168299" y="4186673"/>
            <a:ext cx="914400" cy="646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5BD3FC8-6A79-4030-8D38-A9A4874D09B3}"/>
              </a:ext>
            </a:extLst>
          </p:cNvPr>
          <p:cNvSpPr txBox="1"/>
          <p:nvPr/>
        </p:nvSpPr>
        <p:spPr>
          <a:xfrm>
            <a:off x="9255384" y="4151806"/>
            <a:ext cx="7402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Wasser</a:t>
            </a:r>
            <a:br>
              <a:rPr lang="de-DE" dirty="0"/>
            </a:br>
            <a:r>
              <a:rPr lang="de-DE" sz="800" dirty="0"/>
              <a:t>200/200</a:t>
            </a:r>
            <a:endParaRPr lang="de-DE" dirty="0"/>
          </a:p>
        </p:txBody>
      </p:sp>
      <p:sp>
        <p:nvSpPr>
          <p:cNvPr id="31" name="Additionszeichen 30">
            <a:extLst>
              <a:ext uri="{FF2B5EF4-FFF2-40B4-BE49-F238E27FC236}">
                <a16:creationId xmlns:a16="http://schemas.microsoft.com/office/drawing/2014/main" id="{DB74C34E-EE06-4CA8-873A-5AEF1D925E3D}"/>
              </a:ext>
            </a:extLst>
          </p:cNvPr>
          <p:cNvSpPr/>
          <p:nvPr/>
        </p:nvSpPr>
        <p:spPr>
          <a:xfrm>
            <a:off x="9267824" y="4564479"/>
            <a:ext cx="217715" cy="238407"/>
          </a:xfrm>
          <a:prstGeom prst="mathPl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Minuszeichen 31">
            <a:extLst>
              <a:ext uri="{FF2B5EF4-FFF2-40B4-BE49-F238E27FC236}">
                <a16:creationId xmlns:a16="http://schemas.microsoft.com/office/drawing/2014/main" id="{97360309-A892-49D2-9E78-48D918797F58}"/>
              </a:ext>
            </a:extLst>
          </p:cNvPr>
          <p:cNvSpPr/>
          <p:nvPr/>
        </p:nvSpPr>
        <p:spPr>
          <a:xfrm>
            <a:off x="9777898" y="4620957"/>
            <a:ext cx="217715" cy="125452"/>
          </a:xfrm>
          <a:prstGeom prst="mathMin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ECB41541-0F8A-4AAC-A828-ACD2C1CA8FD8}"/>
              </a:ext>
            </a:extLst>
          </p:cNvPr>
          <p:cNvSpPr/>
          <p:nvPr/>
        </p:nvSpPr>
        <p:spPr>
          <a:xfrm>
            <a:off x="10411888" y="4186673"/>
            <a:ext cx="914400" cy="6469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FCF16E1A-EC14-4A72-AB93-4272E932DFEC}"/>
              </a:ext>
            </a:extLst>
          </p:cNvPr>
          <p:cNvSpPr txBox="1"/>
          <p:nvPr/>
        </p:nvSpPr>
        <p:spPr>
          <a:xfrm>
            <a:off x="10498973" y="4151806"/>
            <a:ext cx="7402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O-Saft</a:t>
            </a:r>
            <a:br>
              <a:rPr lang="de-DE" dirty="0"/>
            </a:br>
            <a:r>
              <a:rPr lang="de-DE" sz="800" dirty="0"/>
              <a:t>0/150</a:t>
            </a:r>
            <a:endParaRPr lang="de-DE" dirty="0"/>
          </a:p>
        </p:txBody>
      </p:sp>
      <p:sp>
        <p:nvSpPr>
          <p:cNvPr id="35" name="Additionszeichen 34">
            <a:extLst>
              <a:ext uri="{FF2B5EF4-FFF2-40B4-BE49-F238E27FC236}">
                <a16:creationId xmlns:a16="http://schemas.microsoft.com/office/drawing/2014/main" id="{C124F33C-BBAB-4779-82B7-90679BE10C6B}"/>
              </a:ext>
            </a:extLst>
          </p:cNvPr>
          <p:cNvSpPr/>
          <p:nvPr/>
        </p:nvSpPr>
        <p:spPr>
          <a:xfrm>
            <a:off x="10511413" y="4564479"/>
            <a:ext cx="217715" cy="238407"/>
          </a:xfrm>
          <a:prstGeom prst="mathPl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Minuszeichen 35">
            <a:extLst>
              <a:ext uri="{FF2B5EF4-FFF2-40B4-BE49-F238E27FC236}">
                <a16:creationId xmlns:a16="http://schemas.microsoft.com/office/drawing/2014/main" id="{7D837C98-3687-4FFA-911E-8618360946F3}"/>
              </a:ext>
            </a:extLst>
          </p:cNvPr>
          <p:cNvSpPr/>
          <p:nvPr/>
        </p:nvSpPr>
        <p:spPr>
          <a:xfrm>
            <a:off x="11021487" y="4620957"/>
            <a:ext cx="217715" cy="125452"/>
          </a:xfrm>
          <a:prstGeom prst="mathMin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A5FD809-B880-4A80-A180-251248089CA6}"/>
              </a:ext>
            </a:extLst>
          </p:cNvPr>
          <p:cNvSpPr/>
          <p:nvPr/>
        </p:nvSpPr>
        <p:spPr>
          <a:xfrm>
            <a:off x="7850789" y="5010058"/>
            <a:ext cx="914400" cy="646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6792689-7965-49D2-B6A6-0576D1184DDC}"/>
              </a:ext>
            </a:extLst>
          </p:cNvPr>
          <p:cNvSpPr txBox="1"/>
          <p:nvPr/>
        </p:nvSpPr>
        <p:spPr>
          <a:xfrm>
            <a:off x="7937874" y="4975191"/>
            <a:ext cx="7402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Limo</a:t>
            </a:r>
            <a:br>
              <a:rPr lang="de-DE" dirty="0"/>
            </a:br>
            <a:r>
              <a:rPr lang="de-DE" sz="800" dirty="0"/>
              <a:t>180/200</a:t>
            </a:r>
            <a:endParaRPr lang="de-DE" dirty="0"/>
          </a:p>
        </p:txBody>
      </p:sp>
      <p:sp>
        <p:nvSpPr>
          <p:cNvPr id="39" name="Additionszeichen 38">
            <a:extLst>
              <a:ext uri="{FF2B5EF4-FFF2-40B4-BE49-F238E27FC236}">
                <a16:creationId xmlns:a16="http://schemas.microsoft.com/office/drawing/2014/main" id="{828396C4-DBB2-4D81-8E1B-BF4011E4F062}"/>
              </a:ext>
            </a:extLst>
          </p:cNvPr>
          <p:cNvSpPr/>
          <p:nvPr/>
        </p:nvSpPr>
        <p:spPr>
          <a:xfrm>
            <a:off x="7950314" y="5387864"/>
            <a:ext cx="217715" cy="238407"/>
          </a:xfrm>
          <a:prstGeom prst="mathPl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Minuszeichen 39">
            <a:extLst>
              <a:ext uri="{FF2B5EF4-FFF2-40B4-BE49-F238E27FC236}">
                <a16:creationId xmlns:a16="http://schemas.microsoft.com/office/drawing/2014/main" id="{F3DE10CF-5DFB-4956-A3CC-EB19E1119469}"/>
              </a:ext>
            </a:extLst>
          </p:cNvPr>
          <p:cNvSpPr/>
          <p:nvPr/>
        </p:nvSpPr>
        <p:spPr>
          <a:xfrm>
            <a:off x="8460388" y="5444342"/>
            <a:ext cx="217715" cy="125452"/>
          </a:xfrm>
          <a:prstGeom prst="mathMin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CA64098F-DE62-4A25-9CEC-31AD0C9C58E0}"/>
              </a:ext>
            </a:extLst>
          </p:cNvPr>
          <p:cNvSpPr/>
          <p:nvPr/>
        </p:nvSpPr>
        <p:spPr>
          <a:xfrm>
            <a:off x="9180739" y="5004055"/>
            <a:ext cx="914400" cy="6469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44A1002-5FDD-4787-A24F-A859B6B85289}"/>
              </a:ext>
            </a:extLst>
          </p:cNvPr>
          <p:cNvSpPr txBox="1"/>
          <p:nvPr/>
        </p:nvSpPr>
        <p:spPr>
          <a:xfrm>
            <a:off x="9267824" y="4969188"/>
            <a:ext cx="740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Wasser+</a:t>
            </a:r>
            <a:br>
              <a:rPr lang="de-DE" dirty="0"/>
            </a:br>
            <a:r>
              <a:rPr lang="de-DE" sz="800" dirty="0"/>
              <a:t>50/100</a:t>
            </a:r>
            <a:endParaRPr lang="de-DE" dirty="0"/>
          </a:p>
        </p:txBody>
      </p:sp>
      <p:sp>
        <p:nvSpPr>
          <p:cNvPr id="43" name="Additionszeichen 42">
            <a:extLst>
              <a:ext uri="{FF2B5EF4-FFF2-40B4-BE49-F238E27FC236}">
                <a16:creationId xmlns:a16="http://schemas.microsoft.com/office/drawing/2014/main" id="{BAA2F737-70A5-4655-93C9-E8B644372BE0}"/>
              </a:ext>
            </a:extLst>
          </p:cNvPr>
          <p:cNvSpPr/>
          <p:nvPr/>
        </p:nvSpPr>
        <p:spPr>
          <a:xfrm>
            <a:off x="9280264" y="5381861"/>
            <a:ext cx="217715" cy="238407"/>
          </a:xfrm>
          <a:prstGeom prst="mathPl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Minuszeichen 43">
            <a:extLst>
              <a:ext uri="{FF2B5EF4-FFF2-40B4-BE49-F238E27FC236}">
                <a16:creationId xmlns:a16="http://schemas.microsoft.com/office/drawing/2014/main" id="{A515B2FF-F29E-46C8-B253-8F8AB7C78865}"/>
              </a:ext>
            </a:extLst>
          </p:cNvPr>
          <p:cNvSpPr/>
          <p:nvPr/>
        </p:nvSpPr>
        <p:spPr>
          <a:xfrm>
            <a:off x="9790338" y="5438339"/>
            <a:ext cx="217715" cy="125452"/>
          </a:xfrm>
          <a:prstGeom prst="mathMinu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6F3979D-BA88-4ED8-AA71-3BB10A590899}"/>
              </a:ext>
            </a:extLst>
          </p:cNvPr>
          <p:cNvSpPr txBox="1"/>
          <p:nvPr/>
        </p:nvSpPr>
        <p:spPr>
          <a:xfrm>
            <a:off x="7651634" y="3696300"/>
            <a:ext cx="3794449" cy="20005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700" dirty="0"/>
              <a:t>www.drinkmanager.com/manage?standort=1</a:t>
            </a:r>
          </a:p>
        </p:txBody>
      </p:sp>
      <p:sp>
        <p:nvSpPr>
          <p:cNvPr id="45" name="Multiplikationszeichen 44">
            <a:extLst>
              <a:ext uri="{FF2B5EF4-FFF2-40B4-BE49-F238E27FC236}">
                <a16:creationId xmlns:a16="http://schemas.microsoft.com/office/drawing/2014/main" id="{0E8B0772-AA08-48BC-B62E-DCF1DEF205BC}"/>
              </a:ext>
            </a:extLst>
          </p:cNvPr>
          <p:cNvSpPr/>
          <p:nvPr/>
        </p:nvSpPr>
        <p:spPr>
          <a:xfrm>
            <a:off x="11268393" y="3672554"/>
            <a:ext cx="195262" cy="223801"/>
          </a:xfrm>
          <a:prstGeom prst="mathMultiply">
            <a:avLst>
              <a:gd name="adj1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9553323-F93B-46A6-9F16-8D98386250C3}"/>
              </a:ext>
            </a:extLst>
          </p:cNvPr>
          <p:cNvCxnSpPr>
            <a:cxnSpLocks/>
          </p:cNvCxnSpPr>
          <p:nvPr/>
        </p:nvCxnSpPr>
        <p:spPr>
          <a:xfrm>
            <a:off x="10895223" y="3831379"/>
            <a:ext cx="147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02F4768F-BFC5-4FD1-A5EB-59086D8C7310}"/>
              </a:ext>
            </a:extLst>
          </p:cNvPr>
          <p:cNvSpPr/>
          <p:nvPr/>
        </p:nvSpPr>
        <p:spPr>
          <a:xfrm>
            <a:off x="11119062" y="3727590"/>
            <a:ext cx="140493" cy="12522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Fußzeilenplatzhalter 3">
            <a:extLst>
              <a:ext uri="{FF2B5EF4-FFF2-40B4-BE49-F238E27FC236}">
                <a16:creationId xmlns:a16="http://schemas.microsoft.com/office/drawing/2014/main" id="{053DCC5B-F971-448B-888D-3FAE8A35A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8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3126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4752677-D7DF-49A6-8B50-0DC31120F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Sebastian Kirner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3D23CDF-15B0-402B-8616-5A846543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Begründete Auswahl einer Alternative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8E82DF86-EBBA-47F4-82CB-2BE94E38E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9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9311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A9C01C5-B5A4-4413-A9F7-5B9CFEACF9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9963" y="1285875"/>
            <a:ext cx="9696560" cy="551608"/>
          </a:xfrm>
        </p:spPr>
        <p:txBody>
          <a:bodyPr/>
          <a:lstStyle/>
          <a:p>
            <a:r>
              <a:rPr lang="de-DE" dirty="0"/>
              <a:t>Automatisches Nachfüllen des Zentrallagers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51B9D3C-4925-4789-9F5E-C7EFEBD0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281" y="414286"/>
            <a:ext cx="9696560" cy="834410"/>
          </a:xfrm>
        </p:spPr>
        <p:txBody>
          <a:bodyPr/>
          <a:lstStyle/>
          <a:p>
            <a:r>
              <a:rPr lang="de-DE" dirty="0"/>
              <a:t>Begründete Auswahl eine Alternative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C8710-EC19-4897-8431-E4E04B8B73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40280" y="4550430"/>
            <a:ext cx="4692148" cy="168283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Zentrallager wird nach vollständigem Transfer nicht nachgefüllt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Alternative: Alle Lager werden direkt komplett nachgefüllt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A13AE1-78DA-4C18-AFE2-F9EBC65FEB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53704" y="4469724"/>
            <a:ext cx="4883137" cy="176315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900" dirty="0">
                <a:latin typeface="Verdana" panose="020B0604030504040204" pitchFamily="34" charset="0"/>
                <a:ea typeface="Verdana" panose="020B0604030504040204" pitchFamily="34" charset="0"/>
              </a:rPr>
              <a:t>Gründe:</a:t>
            </a:r>
          </a:p>
          <a:p>
            <a:pPr lvl="1">
              <a:lnSpc>
                <a:spcPct val="150000"/>
              </a:lnSpc>
            </a:pPr>
            <a:r>
              <a:rPr lang="de-DE" sz="15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füllt Zentrallager nur dann auf, wenn gebraucht</a:t>
            </a:r>
          </a:p>
          <a:p>
            <a:pPr lvl="1">
              <a:lnSpc>
                <a:spcPct val="150000"/>
              </a:lnSpc>
            </a:pPr>
            <a:r>
              <a:rPr lang="de-DE" sz="15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 sieht, dass Buchungen stattfanden</a:t>
            </a:r>
          </a:p>
          <a:p>
            <a:pPr lvl="1">
              <a:lnSpc>
                <a:spcPct val="150000"/>
              </a:lnSpc>
            </a:pPr>
            <a:r>
              <a:rPr lang="de-DE" sz="15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Höhere Übersichtlichkeit</a:t>
            </a:r>
            <a:endParaRPr lang="de-DE" sz="1500" dirty="0">
              <a:solidFill>
                <a:srgbClr val="1E325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21C6B3B-1E4F-4A9E-8E7C-47EB3E3B835F}"/>
              </a:ext>
            </a:extLst>
          </p:cNvPr>
          <p:cNvCxnSpPr>
            <a:cxnSpLocks/>
          </p:cNvCxnSpPr>
          <p:nvPr/>
        </p:nvCxnSpPr>
        <p:spPr>
          <a:xfrm>
            <a:off x="3051500" y="2929997"/>
            <a:ext cx="888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C61D216F-3319-4770-84C2-390B1A0E407A}"/>
              </a:ext>
            </a:extLst>
          </p:cNvPr>
          <p:cNvSpPr/>
          <p:nvPr/>
        </p:nvSpPr>
        <p:spPr>
          <a:xfrm>
            <a:off x="3940265" y="2535768"/>
            <a:ext cx="1454332" cy="776599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/>
              <a:t>Flaschen von Zentrale zu Standorten</a:t>
            </a:r>
          </a:p>
        </p:txBody>
      </p:sp>
      <p:sp>
        <p:nvSpPr>
          <p:cNvPr id="9" name="Flussdiagramm: Prozess 8">
            <a:extLst>
              <a:ext uri="{FF2B5EF4-FFF2-40B4-BE49-F238E27FC236}">
                <a16:creationId xmlns:a16="http://schemas.microsoft.com/office/drawing/2014/main" id="{0D02746D-F90E-43A6-90E8-B5DAD7D8CF0D}"/>
              </a:ext>
            </a:extLst>
          </p:cNvPr>
          <p:cNvSpPr/>
          <p:nvPr/>
        </p:nvSpPr>
        <p:spPr>
          <a:xfrm>
            <a:off x="7447643" y="2605993"/>
            <a:ext cx="1454332" cy="59218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Zentrallager nachfüllen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840A92C-02BE-449D-B58D-A7A219D6B229}"/>
              </a:ext>
            </a:extLst>
          </p:cNvPr>
          <p:cNvCxnSpPr>
            <a:stCxn id="8" idx="2"/>
          </p:cNvCxnSpPr>
          <p:nvPr/>
        </p:nvCxnSpPr>
        <p:spPr>
          <a:xfrm>
            <a:off x="4667431" y="3312367"/>
            <a:ext cx="0" cy="682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8548ED7-1A5C-41E3-A8B5-79CB3150291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394597" y="2902085"/>
            <a:ext cx="2053046" cy="2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CBF566D-6781-42C1-97AE-E8D61F38578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667431" y="3989216"/>
            <a:ext cx="48256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C9DB0E67-A6BE-4945-BCAA-F2F3F79F1B6E}"/>
              </a:ext>
            </a:extLst>
          </p:cNvPr>
          <p:cNvSpPr txBox="1"/>
          <p:nvPr/>
        </p:nvSpPr>
        <p:spPr>
          <a:xfrm>
            <a:off x="5413857" y="2754790"/>
            <a:ext cx="20337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Zentrallagerkapazität reichte </a:t>
            </a:r>
            <a:r>
              <a:rPr lang="de-DE" sz="900" b="1" dirty="0"/>
              <a:t>nicht</a:t>
            </a:r>
            <a:r>
              <a:rPr lang="de-DE" sz="900" dirty="0"/>
              <a:t> aus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1AB55B-190B-4E58-BC46-F7DCDBDCFE8A}"/>
              </a:ext>
            </a:extLst>
          </p:cNvPr>
          <p:cNvSpPr txBox="1"/>
          <p:nvPr/>
        </p:nvSpPr>
        <p:spPr>
          <a:xfrm>
            <a:off x="5019929" y="3778626"/>
            <a:ext cx="20337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Zentrallagerkapazität reichte aus</a:t>
            </a:r>
          </a:p>
        </p:txBody>
      </p:sp>
      <p:sp>
        <p:nvSpPr>
          <p:cNvPr id="15" name="Flussdiagramm: Prozess 14">
            <a:extLst>
              <a:ext uri="{FF2B5EF4-FFF2-40B4-BE49-F238E27FC236}">
                <a16:creationId xmlns:a16="http://schemas.microsoft.com/office/drawing/2014/main" id="{2E236735-7CD1-4C95-AF27-E7F4CD51C184}"/>
              </a:ext>
            </a:extLst>
          </p:cNvPr>
          <p:cNvSpPr/>
          <p:nvPr/>
        </p:nvSpPr>
        <p:spPr>
          <a:xfrm>
            <a:off x="9287329" y="2535768"/>
            <a:ext cx="1454332" cy="776599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/>
              <a:t>Restliche Flaschen von Zentrale zu Standorten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CD87932-35E8-488F-B93E-E481D17EAD14}"/>
              </a:ext>
            </a:extLst>
          </p:cNvPr>
          <p:cNvCxnSpPr>
            <a:cxnSpLocks/>
          </p:cNvCxnSpPr>
          <p:nvPr/>
        </p:nvCxnSpPr>
        <p:spPr>
          <a:xfrm>
            <a:off x="8901975" y="2896493"/>
            <a:ext cx="385354" cy="2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ussdiagramm: Prozess 16">
            <a:extLst>
              <a:ext uri="{FF2B5EF4-FFF2-40B4-BE49-F238E27FC236}">
                <a16:creationId xmlns:a16="http://schemas.microsoft.com/office/drawing/2014/main" id="{083DFF40-AA13-4550-90B2-590F06514034}"/>
              </a:ext>
            </a:extLst>
          </p:cNvPr>
          <p:cNvSpPr/>
          <p:nvPr/>
        </p:nvSpPr>
        <p:spPr>
          <a:xfrm>
            <a:off x="9493072" y="3693124"/>
            <a:ext cx="1042845" cy="59218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Ende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A9B72EF-D74C-47DB-AC8B-8E7EB7FB746D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10014495" y="3312367"/>
            <a:ext cx="0" cy="380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ssdiagramm: Prozess 18">
            <a:extLst>
              <a:ext uri="{FF2B5EF4-FFF2-40B4-BE49-F238E27FC236}">
                <a16:creationId xmlns:a16="http://schemas.microsoft.com/office/drawing/2014/main" id="{A907096F-96E9-40EB-B1BD-D03596037714}"/>
              </a:ext>
            </a:extLst>
          </p:cNvPr>
          <p:cNvSpPr/>
          <p:nvPr/>
        </p:nvSpPr>
        <p:spPr>
          <a:xfrm>
            <a:off x="2324334" y="1837482"/>
            <a:ext cx="1454332" cy="59218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100" dirty="0"/>
              <a:t>User klickt auf „Lager nachfüllen“ für einen Standort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ECA067C-E69D-4EEF-B813-17DC6D0534BA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3051500" y="2429665"/>
            <a:ext cx="0" cy="500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ußzeilenplatzhalter 3">
            <a:extLst>
              <a:ext uri="{FF2B5EF4-FFF2-40B4-BE49-F238E27FC236}">
                <a16:creationId xmlns:a16="http://schemas.microsoft.com/office/drawing/2014/main" id="{73703285-0377-4FBE-A932-8A2A1153D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10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0550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5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EC8919-FE0E-4712-94E5-0847DB841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Getränkeklassenstruktur mit Vererbung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3544A5-DE04-4BE9-A3EA-8E76D85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Begründete Auswahl eine Alternative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5433D-7DD5-4C52-A505-1D2EBE420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Momentan: Mutterklasse „</a:t>
            </a:r>
            <a:r>
              <a:rPr lang="de-DE" sz="1800" dirty="0" err="1"/>
              <a:t>DrinkType</a:t>
            </a:r>
            <a:r>
              <a:rPr lang="de-DE" sz="1800" dirty="0"/>
              <a:t>“ mit Tochterklassen Getränke Arten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Alternative: Eine Klasse für alle Getränke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Gründe:</a:t>
            </a:r>
          </a:p>
          <a:p>
            <a:pPr lvl="1">
              <a:lnSpc>
                <a:spcPct val="150000"/>
              </a:lnSpc>
            </a:pPr>
            <a:r>
              <a:rPr lang="de-DE" sz="16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Organsiertere Struktur</a:t>
            </a:r>
          </a:p>
          <a:p>
            <a:pPr lvl="1">
              <a:lnSpc>
                <a:spcPct val="150000"/>
              </a:lnSpc>
            </a:pPr>
            <a:r>
              <a:rPr lang="de-DE" sz="16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Einfachere Erweiterbarkeit</a:t>
            </a:r>
          </a:p>
          <a:p>
            <a:pPr lvl="1">
              <a:lnSpc>
                <a:spcPct val="150000"/>
              </a:lnSpc>
            </a:pPr>
            <a:r>
              <a:rPr lang="de-DE" sz="16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Differenzierbarkeit</a:t>
            </a:r>
          </a:p>
          <a:p>
            <a:pPr lvl="1">
              <a:lnSpc>
                <a:spcPct val="150000"/>
              </a:lnSpc>
            </a:pPr>
            <a:r>
              <a:rPr lang="de-DE" sz="16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Optimierter</a:t>
            </a:r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1DFBFE68-88CF-4D56-A4D0-E13F18915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11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278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EC8919-FE0E-4712-94E5-0847DB841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>
                <a:cs typeface="Times New Roman" panose="02020603050405020304" pitchFamily="18" charset="0"/>
              </a:rPr>
              <a:t>Bestände als </a:t>
            </a:r>
            <a:r>
              <a:rPr lang="de-DE" dirty="0" err="1">
                <a:cs typeface="Times New Roman" panose="02020603050405020304" pitchFamily="18" charset="0"/>
              </a:rPr>
              <a:t>Map</a:t>
            </a:r>
            <a:r>
              <a:rPr lang="de-DE" dirty="0">
                <a:cs typeface="Times New Roman" panose="02020603050405020304" pitchFamily="18" charset="0"/>
              </a:rPr>
              <a:t> gespeichert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3544A5-DE04-4BE9-A3EA-8E76D85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Begründete Auswahl eine Alternative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5433D-7DD5-4C52-A505-1D2EBE420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40280" y="1989229"/>
            <a:ext cx="9632172" cy="10987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Momentan: Bestand als </a:t>
            </a:r>
            <a:r>
              <a:rPr lang="de-DE" sz="1800" dirty="0" err="1"/>
              <a:t>Map</a:t>
            </a:r>
            <a:r>
              <a:rPr lang="de-DE" sz="1800" dirty="0"/>
              <a:t> in Klasse Location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Alternative: Bestände bzw. Lager als eigene Klassen</a:t>
            </a:r>
          </a:p>
          <a:p>
            <a:pPr>
              <a:lnSpc>
                <a:spcPct val="150000"/>
              </a:lnSpc>
            </a:pPr>
            <a:endParaRPr lang="de-DE" sz="1800" dirty="0"/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B6C34311-D1ED-44B2-A28C-7E201A79D1CC}"/>
              </a:ext>
            </a:extLst>
          </p:cNvPr>
          <p:cNvSpPr/>
          <p:nvPr/>
        </p:nvSpPr>
        <p:spPr>
          <a:xfrm>
            <a:off x="2239963" y="3731303"/>
            <a:ext cx="3392579" cy="551609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E3A35910-DC3A-4589-950B-921DADB593DF}"/>
              </a:ext>
            </a:extLst>
          </p:cNvPr>
          <p:cNvSpPr/>
          <p:nvPr/>
        </p:nvSpPr>
        <p:spPr>
          <a:xfrm>
            <a:off x="2239501" y="4282912"/>
            <a:ext cx="3392117" cy="778702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# </a:t>
            </a:r>
            <a:r>
              <a:rPr lang="de-DE" sz="1600" dirty="0" err="1">
                <a:solidFill>
                  <a:schemeClr val="tx1"/>
                </a:solidFill>
              </a:rPr>
              <a:t>drinks</a:t>
            </a:r>
            <a:r>
              <a:rPr lang="de-DE" sz="1600" dirty="0">
                <a:solidFill>
                  <a:schemeClr val="tx1"/>
                </a:solidFill>
              </a:rPr>
              <a:t> : </a:t>
            </a:r>
            <a:r>
              <a:rPr lang="de-DE" sz="1600" dirty="0" err="1">
                <a:solidFill>
                  <a:schemeClr val="tx1"/>
                </a:solidFill>
              </a:rPr>
              <a:t>Map</a:t>
            </a:r>
            <a:r>
              <a:rPr lang="de-DE" sz="1600" dirty="0">
                <a:solidFill>
                  <a:schemeClr val="tx1"/>
                </a:solidFill>
              </a:rPr>
              <a:t>&lt;</a:t>
            </a:r>
            <a:r>
              <a:rPr lang="de-DE" sz="1600" dirty="0" err="1">
                <a:solidFill>
                  <a:schemeClr val="tx1"/>
                </a:solidFill>
              </a:rPr>
              <a:t>DrinkType</a:t>
            </a:r>
            <a:r>
              <a:rPr lang="de-DE" sz="1600" dirty="0">
                <a:solidFill>
                  <a:schemeClr val="tx1"/>
                </a:solidFill>
              </a:rPr>
              <a:t>, Integer&gt;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#capacity : </a:t>
            </a:r>
            <a:r>
              <a:rPr lang="de-DE" sz="1600" dirty="0" err="1">
                <a:solidFill>
                  <a:schemeClr val="tx1"/>
                </a:solidFill>
              </a:rPr>
              <a:t>Map</a:t>
            </a:r>
            <a:r>
              <a:rPr lang="de-DE" sz="1600" dirty="0">
                <a:solidFill>
                  <a:schemeClr val="tx1"/>
                </a:solidFill>
              </a:rPr>
              <a:t>&lt;</a:t>
            </a:r>
            <a:r>
              <a:rPr lang="de-DE" sz="1600" dirty="0" err="1">
                <a:solidFill>
                  <a:schemeClr val="tx1"/>
                </a:solidFill>
              </a:rPr>
              <a:t>DrinkType</a:t>
            </a:r>
            <a:r>
              <a:rPr lang="de-DE" sz="1600" dirty="0">
                <a:solidFill>
                  <a:schemeClr val="tx1"/>
                </a:solidFill>
              </a:rPr>
              <a:t>, Integer&gt;</a:t>
            </a:r>
          </a:p>
        </p:txBody>
      </p:sp>
      <p:sp>
        <p:nvSpPr>
          <p:cNvPr id="9" name="Flussdiagramm: Prozess 8">
            <a:extLst>
              <a:ext uri="{FF2B5EF4-FFF2-40B4-BE49-F238E27FC236}">
                <a16:creationId xmlns:a16="http://schemas.microsoft.com/office/drawing/2014/main" id="{BC2B5B71-5EAD-4899-9956-25FDFD2F857A}"/>
              </a:ext>
            </a:extLst>
          </p:cNvPr>
          <p:cNvSpPr/>
          <p:nvPr/>
        </p:nvSpPr>
        <p:spPr>
          <a:xfrm>
            <a:off x="2239039" y="5053844"/>
            <a:ext cx="3392579" cy="949734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/>
              <a:t>+ </a:t>
            </a:r>
            <a:r>
              <a:rPr lang="de-DE" sz="1600" dirty="0" err="1"/>
              <a:t>addDrink</a:t>
            </a:r>
            <a:r>
              <a:rPr lang="de-DE" sz="1600" dirty="0"/>
              <a:t>(</a:t>
            </a:r>
            <a:r>
              <a:rPr lang="de-DE" sz="1600" dirty="0" err="1"/>
              <a:t>drinkType</a:t>
            </a:r>
            <a:r>
              <a:rPr lang="de-DE" sz="1600" dirty="0"/>
              <a:t> : , </a:t>
            </a:r>
            <a:r>
              <a:rPr lang="de-DE" sz="1600" dirty="0" err="1"/>
              <a:t>amount</a:t>
            </a:r>
            <a:r>
              <a:rPr lang="de-DE" sz="1600" dirty="0"/>
              <a:t>  : </a:t>
            </a:r>
            <a:r>
              <a:rPr lang="de-DE" sz="1600" dirty="0" err="1"/>
              <a:t>int</a:t>
            </a:r>
            <a:r>
              <a:rPr lang="de-DE" sz="1600" dirty="0"/>
              <a:t>)</a:t>
            </a:r>
          </a:p>
          <a:p>
            <a:pPr algn="ctr"/>
            <a:r>
              <a:rPr lang="de-DE" sz="1600" dirty="0"/>
              <a:t>+ </a:t>
            </a:r>
            <a:r>
              <a:rPr lang="de-DE" sz="1600" dirty="0" err="1"/>
              <a:t>setCapacity</a:t>
            </a:r>
            <a:r>
              <a:rPr lang="de-DE" sz="1600" dirty="0"/>
              <a:t>(</a:t>
            </a:r>
            <a:r>
              <a:rPr lang="de-DE" sz="1600" dirty="0" err="1"/>
              <a:t>drinkType</a:t>
            </a:r>
            <a:r>
              <a:rPr lang="de-DE" sz="1600" dirty="0"/>
              <a:t> : , </a:t>
            </a:r>
            <a:r>
              <a:rPr lang="de-DE" sz="1600" dirty="0" err="1"/>
              <a:t>amount</a:t>
            </a:r>
            <a:r>
              <a:rPr lang="de-DE" sz="1600" dirty="0"/>
              <a:t>  : </a:t>
            </a:r>
            <a:r>
              <a:rPr lang="de-DE" sz="1600" dirty="0" err="1"/>
              <a:t>int</a:t>
            </a:r>
            <a:r>
              <a:rPr lang="de-DE" sz="1600" dirty="0"/>
              <a:t>)</a:t>
            </a:r>
          </a:p>
        </p:txBody>
      </p:sp>
      <p:sp>
        <p:nvSpPr>
          <p:cNvPr id="13" name="Flussdiagramm: Prozess 12">
            <a:extLst>
              <a:ext uri="{FF2B5EF4-FFF2-40B4-BE49-F238E27FC236}">
                <a16:creationId xmlns:a16="http://schemas.microsoft.com/office/drawing/2014/main" id="{0EC8A182-1F84-4892-8E12-F3581D253AA9}"/>
              </a:ext>
            </a:extLst>
          </p:cNvPr>
          <p:cNvSpPr/>
          <p:nvPr/>
        </p:nvSpPr>
        <p:spPr>
          <a:xfrm>
            <a:off x="6589336" y="3731303"/>
            <a:ext cx="1998483" cy="563299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Location</a:t>
            </a:r>
          </a:p>
        </p:txBody>
      </p:sp>
      <p:sp>
        <p:nvSpPr>
          <p:cNvPr id="14" name="Flussdiagramm: Prozess 13">
            <a:extLst>
              <a:ext uri="{FF2B5EF4-FFF2-40B4-BE49-F238E27FC236}">
                <a16:creationId xmlns:a16="http://schemas.microsoft.com/office/drawing/2014/main" id="{D0CF2076-3213-4A3A-9660-5EF8B5C5BF6E}"/>
              </a:ext>
            </a:extLst>
          </p:cNvPr>
          <p:cNvSpPr/>
          <p:nvPr/>
        </p:nvSpPr>
        <p:spPr>
          <a:xfrm>
            <a:off x="6588874" y="4294603"/>
            <a:ext cx="1998483" cy="751987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lussdiagramm: Prozess 14">
            <a:extLst>
              <a:ext uri="{FF2B5EF4-FFF2-40B4-BE49-F238E27FC236}">
                <a16:creationId xmlns:a16="http://schemas.microsoft.com/office/drawing/2014/main" id="{1FB52B01-037F-4D82-A6C0-6D503B6D37E9}"/>
              </a:ext>
            </a:extLst>
          </p:cNvPr>
          <p:cNvSpPr/>
          <p:nvPr/>
        </p:nvSpPr>
        <p:spPr>
          <a:xfrm>
            <a:off x="6588412" y="5053844"/>
            <a:ext cx="1998483" cy="949733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 </a:t>
            </a:r>
            <a:r>
              <a:rPr lang="de-DE" dirty="0" err="1"/>
              <a:t>compareCapacity</a:t>
            </a:r>
            <a:endParaRPr lang="de-DE" dirty="0"/>
          </a:p>
        </p:txBody>
      </p:sp>
      <p:sp>
        <p:nvSpPr>
          <p:cNvPr id="19" name="Flussdiagramm: Prozess 18">
            <a:extLst>
              <a:ext uri="{FF2B5EF4-FFF2-40B4-BE49-F238E27FC236}">
                <a16:creationId xmlns:a16="http://schemas.microsoft.com/office/drawing/2014/main" id="{4270F71D-82AC-4DA5-92CE-3829ACD9EC79}"/>
              </a:ext>
            </a:extLst>
          </p:cNvPr>
          <p:cNvSpPr/>
          <p:nvPr/>
        </p:nvSpPr>
        <p:spPr>
          <a:xfrm>
            <a:off x="9820094" y="3452483"/>
            <a:ext cx="1830215" cy="320375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Drinks</a:t>
            </a:r>
          </a:p>
        </p:txBody>
      </p:sp>
      <p:sp>
        <p:nvSpPr>
          <p:cNvPr id="20" name="Flussdiagramm: Prozess 19">
            <a:extLst>
              <a:ext uri="{FF2B5EF4-FFF2-40B4-BE49-F238E27FC236}">
                <a16:creationId xmlns:a16="http://schemas.microsoft.com/office/drawing/2014/main" id="{49971A93-0C62-41DF-9E8D-C961DB05C883}"/>
              </a:ext>
            </a:extLst>
          </p:cNvPr>
          <p:cNvSpPr/>
          <p:nvPr/>
        </p:nvSpPr>
        <p:spPr>
          <a:xfrm>
            <a:off x="9820094" y="3772857"/>
            <a:ext cx="1831139" cy="778702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/>
              <a:t># </a:t>
            </a:r>
            <a:r>
              <a:rPr lang="de-DE" sz="1600" dirty="0" err="1"/>
              <a:t>drinkType</a:t>
            </a:r>
            <a:r>
              <a:rPr lang="de-DE" sz="1600" dirty="0"/>
              <a:t> : </a:t>
            </a:r>
            <a:r>
              <a:rPr lang="de-DE" sz="1600" dirty="0" err="1"/>
              <a:t>DrinkType</a:t>
            </a:r>
            <a:endParaRPr lang="de-DE" sz="1600" dirty="0"/>
          </a:p>
          <a:p>
            <a:pPr algn="ctr"/>
            <a:r>
              <a:rPr lang="de-DE" sz="1600" dirty="0"/>
              <a:t># </a:t>
            </a:r>
            <a:r>
              <a:rPr lang="de-DE" sz="1600" dirty="0" err="1"/>
              <a:t>name</a:t>
            </a:r>
            <a:r>
              <a:rPr lang="de-DE" sz="1600" dirty="0"/>
              <a:t> : String</a:t>
            </a:r>
          </a:p>
        </p:txBody>
      </p:sp>
      <p:sp>
        <p:nvSpPr>
          <p:cNvPr id="21" name="Flussdiagramm: Prozess 20">
            <a:extLst>
              <a:ext uri="{FF2B5EF4-FFF2-40B4-BE49-F238E27FC236}">
                <a16:creationId xmlns:a16="http://schemas.microsoft.com/office/drawing/2014/main" id="{1EB3C010-216B-401A-B27C-D9B9D91CB1AD}"/>
              </a:ext>
            </a:extLst>
          </p:cNvPr>
          <p:cNvSpPr/>
          <p:nvPr/>
        </p:nvSpPr>
        <p:spPr>
          <a:xfrm>
            <a:off x="9819170" y="4540309"/>
            <a:ext cx="1830215" cy="248507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 </a:t>
            </a:r>
            <a:r>
              <a:rPr lang="de-DE" dirty="0" err="1"/>
              <a:t>addDrink</a:t>
            </a:r>
            <a:endParaRPr lang="de-DE" dirty="0"/>
          </a:p>
        </p:txBody>
      </p:sp>
      <p:sp>
        <p:nvSpPr>
          <p:cNvPr id="22" name="Flussdiagramm: Prozess 21">
            <a:extLst>
              <a:ext uri="{FF2B5EF4-FFF2-40B4-BE49-F238E27FC236}">
                <a16:creationId xmlns:a16="http://schemas.microsoft.com/office/drawing/2014/main" id="{2269A456-63C3-41C8-9451-79C72A7A73E2}"/>
              </a:ext>
            </a:extLst>
          </p:cNvPr>
          <p:cNvSpPr/>
          <p:nvPr/>
        </p:nvSpPr>
        <p:spPr>
          <a:xfrm>
            <a:off x="9819170" y="4931198"/>
            <a:ext cx="1830215" cy="320375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Capacity</a:t>
            </a:r>
            <a:endParaRPr lang="de-DE" dirty="0"/>
          </a:p>
        </p:txBody>
      </p:sp>
      <p:sp>
        <p:nvSpPr>
          <p:cNvPr id="23" name="Flussdiagramm: Prozess 22">
            <a:extLst>
              <a:ext uri="{FF2B5EF4-FFF2-40B4-BE49-F238E27FC236}">
                <a16:creationId xmlns:a16="http://schemas.microsoft.com/office/drawing/2014/main" id="{81C43294-CAD6-4EA0-8858-9EECC99711DC}"/>
              </a:ext>
            </a:extLst>
          </p:cNvPr>
          <p:cNvSpPr/>
          <p:nvPr/>
        </p:nvSpPr>
        <p:spPr>
          <a:xfrm>
            <a:off x="9819170" y="5251572"/>
            <a:ext cx="1831139" cy="798704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/>
              <a:t>#drinkType : </a:t>
            </a:r>
            <a:r>
              <a:rPr lang="de-DE" sz="1600" dirty="0" err="1"/>
              <a:t>DrinkType</a:t>
            </a:r>
            <a:endParaRPr lang="de-DE" sz="1600" dirty="0"/>
          </a:p>
          <a:p>
            <a:pPr algn="ctr"/>
            <a:r>
              <a:rPr lang="de-DE" sz="1600" dirty="0"/>
              <a:t> # </a:t>
            </a:r>
            <a:r>
              <a:rPr lang="de-DE" sz="1600" dirty="0" err="1"/>
              <a:t>Capacity</a:t>
            </a:r>
            <a:r>
              <a:rPr lang="de-DE" sz="1600" dirty="0"/>
              <a:t> : </a:t>
            </a:r>
            <a:r>
              <a:rPr lang="de-DE" sz="1600" dirty="0" err="1"/>
              <a:t>int</a:t>
            </a:r>
            <a:endParaRPr lang="de-DE" sz="1600" dirty="0"/>
          </a:p>
        </p:txBody>
      </p:sp>
      <p:sp>
        <p:nvSpPr>
          <p:cNvPr id="24" name="Flussdiagramm: Prozess 23">
            <a:extLst>
              <a:ext uri="{FF2B5EF4-FFF2-40B4-BE49-F238E27FC236}">
                <a16:creationId xmlns:a16="http://schemas.microsoft.com/office/drawing/2014/main" id="{2B5F952C-C831-4A52-B8D3-E8B6B379B862}"/>
              </a:ext>
            </a:extLst>
          </p:cNvPr>
          <p:cNvSpPr/>
          <p:nvPr/>
        </p:nvSpPr>
        <p:spPr>
          <a:xfrm>
            <a:off x="9818246" y="6050276"/>
            <a:ext cx="1830215" cy="250451"/>
          </a:xfrm>
          <a:prstGeom prst="flowChart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+ </a:t>
            </a:r>
            <a:r>
              <a:rPr lang="de-DE" sz="1600" dirty="0" err="1"/>
              <a:t>setCapacity</a:t>
            </a:r>
            <a:endParaRPr lang="de-DE" sz="16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AF6C2FD-00EE-407B-9195-DFB77CB5CAA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8587357" y="4386345"/>
            <a:ext cx="1231814" cy="28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52A0A58-2D53-43FE-98FE-BDCFED8F6FA3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8586895" y="5528711"/>
            <a:ext cx="1231352" cy="325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656A8ACF-3AA6-4F1D-ADAB-9D82937CA246}"/>
              </a:ext>
            </a:extLst>
          </p:cNvPr>
          <p:cNvSpPr txBox="1"/>
          <p:nvPr/>
        </p:nvSpPr>
        <p:spPr>
          <a:xfrm>
            <a:off x="2153920" y="3076332"/>
            <a:ext cx="3574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Momentan </a:t>
            </a:r>
          </a:p>
          <a:p>
            <a:pPr algn="ctr"/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(Stark vereinfacht)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19A03232-D40A-4522-9162-D3E05DA96894}"/>
              </a:ext>
            </a:extLst>
          </p:cNvPr>
          <p:cNvSpPr txBox="1"/>
          <p:nvPr/>
        </p:nvSpPr>
        <p:spPr>
          <a:xfrm>
            <a:off x="6558536" y="3083151"/>
            <a:ext cx="508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Alternativer Aufbau</a:t>
            </a:r>
          </a:p>
        </p:txBody>
      </p:sp>
      <p:sp>
        <p:nvSpPr>
          <p:cNvPr id="25" name="Fußzeilenplatzhalter 3">
            <a:extLst>
              <a:ext uri="{FF2B5EF4-FFF2-40B4-BE49-F238E27FC236}">
                <a16:creationId xmlns:a16="http://schemas.microsoft.com/office/drawing/2014/main" id="{8DF4E434-53F5-454D-8FEC-3711179FF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12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780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EC8919-FE0E-4712-94E5-0847DB841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Korrektur der Ausgangsbestände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3544A5-DE04-4BE9-A3EA-8E76D85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Begründete Auswahl eine Alternative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9FF5433D-7DD5-4C52-A505-1D2EBE420D75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sz="1800" dirty="0">
                    <a:solidFill>
                      <a:srgbClr val="1E3256"/>
                    </a:solidFill>
                  </a:rPr>
                  <a:t>Nach unten geändert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de-DE" sz="180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𝐴𝑛𝑧𝑎h𝑙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𝑑𝑒𝑟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𝐹𝑙𝑎𝑠𝑐h𝑒𝑛</m:t>
                        </m:r>
                      </m:num>
                      <m:den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𝐴𝑛𝑧𝑎h𝑙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𝑑𝑒𝑟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ä</m:t>
                        </m:r>
                        <m:r>
                          <a:rPr lang="de-DE" sz="1800" b="0" i="1" smtClean="0">
                            <a:solidFill>
                              <a:srgbClr val="1E3256"/>
                            </a:solidFill>
                            <a:latin typeface="Cambria Math" panose="02040503050406030204" pitchFamily="18" charset="0"/>
                          </a:rPr>
                          <m:t>𝑠𝑡𝑒𝑛</m:t>
                        </m:r>
                      </m:den>
                    </m:f>
                  </m:oMath>
                </a14:m>
                <a:endParaRPr lang="de-DE" sz="1800" dirty="0">
                  <a:solidFill>
                    <a:srgbClr val="1E3256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de-DE" sz="1800" dirty="0">
                    <a:solidFill>
                      <a:srgbClr val="1E3256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de-DE" sz="1800" dirty="0">
                    <a:solidFill>
                      <a:srgbClr val="1E3256"/>
                    </a:solidFill>
                  </a:rPr>
                  <a:t>Keine übrigen Flaschen im Zentrallager</a:t>
                </a:r>
              </a:p>
            </p:txBody>
          </p:sp>
        </mc:Choice>
        <mc:Fallback xmlns="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9FF5433D-7DD5-4C52-A505-1D2EBE420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4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64441601-5B19-4114-8997-4FFFB3051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9645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EC8919-FE0E-4712-94E5-0847DB841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Enum</a:t>
            </a:r>
            <a:r>
              <a:rPr lang="de-DE" dirty="0"/>
              <a:t> für Wasserflaschen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3544A5-DE04-4BE9-A3EA-8E76D85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Begründete Auswahl eine Alternative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5433D-7DD5-4C52-A505-1D2EBE420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40275" y="1989228"/>
            <a:ext cx="9051510" cy="42440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Klasse „</a:t>
            </a:r>
            <a:r>
              <a:rPr lang="de-DE" sz="1800" dirty="0" err="1"/>
              <a:t>WaterSparkling</a:t>
            </a:r>
            <a:r>
              <a:rPr lang="de-DE" sz="1800" dirty="0"/>
              <a:t>“ &amp; „</a:t>
            </a:r>
            <a:r>
              <a:rPr lang="de-DE" sz="1800" dirty="0" err="1"/>
              <a:t>WaterNonSparkling</a:t>
            </a:r>
            <a:r>
              <a:rPr lang="de-DE" sz="1800" dirty="0"/>
              <a:t>“, Attribut „</a:t>
            </a:r>
            <a:r>
              <a:rPr lang="de-DE" sz="1800" dirty="0" err="1"/>
              <a:t>drinkType</a:t>
            </a:r>
            <a:r>
              <a:rPr lang="de-DE" sz="1800" dirty="0"/>
              <a:t>“</a:t>
            </a:r>
          </a:p>
          <a:p>
            <a:pPr>
              <a:lnSpc>
                <a:spcPct val="150000"/>
              </a:lnSpc>
            </a:pPr>
            <a:r>
              <a:rPr lang="de-DE" sz="1800" dirty="0" err="1"/>
              <a:t>Enum</a:t>
            </a:r>
            <a:r>
              <a:rPr lang="de-DE" sz="1800" dirty="0"/>
              <a:t> ist definierter Wert, statt String oder Tochterklasse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Gründe:</a:t>
            </a:r>
          </a:p>
          <a:p>
            <a:pPr lvl="1">
              <a:lnSpc>
                <a:spcPct val="150000"/>
              </a:lnSpc>
            </a:pPr>
            <a:r>
              <a:rPr lang="de-DE" sz="1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Eindeutiger definiert</a:t>
            </a:r>
          </a:p>
          <a:p>
            <a:pPr lvl="1">
              <a:lnSpc>
                <a:spcPct val="150000"/>
              </a:lnSpc>
            </a:pPr>
            <a:r>
              <a:rPr lang="de-DE" sz="1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Speicheroptimierter</a:t>
            </a:r>
          </a:p>
          <a:p>
            <a:pPr lvl="1">
              <a:lnSpc>
                <a:spcPct val="150000"/>
              </a:lnSpc>
            </a:pPr>
            <a:r>
              <a:rPr lang="de-DE" sz="1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Übersichtlicher</a:t>
            </a:r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6FBDEFFD-11E3-41C0-8D07-FBD5D38BB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14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02823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5EC8919-FE0E-4712-94E5-0847DB841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Zusätzliche GUI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3544A5-DE04-4BE9-A3EA-8E76D856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Begründete Auswahl eine Alternative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5433D-7DD5-4C52-A505-1D2EBE420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40280" y="1989228"/>
            <a:ext cx="135992364" cy="224999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sz="1800" dirty="0"/>
              <a:t>Von Aufgabenstellung nicht gefordert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Alternative: Konsolenausgabe</a:t>
            </a:r>
          </a:p>
          <a:p>
            <a:pPr>
              <a:lnSpc>
                <a:spcPct val="150000"/>
              </a:lnSpc>
            </a:pP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Userfreundlichkeit</a:t>
            </a:r>
          </a:p>
          <a:p>
            <a:pPr lvl="1">
              <a:lnSpc>
                <a:spcPct val="150000"/>
              </a:lnSpc>
            </a:pPr>
            <a:r>
              <a:rPr lang="de-DE" sz="1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Einfachere Bedienung</a:t>
            </a:r>
          </a:p>
          <a:p>
            <a:pPr lvl="1">
              <a:lnSpc>
                <a:spcPct val="150000"/>
              </a:lnSpc>
            </a:pPr>
            <a:r>
              <a:rPr lang="de-DE" sz="1800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Besseres Feedback (farbig)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Systemunabhängigkeit des Aussehens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de-DE" sz="2000" dirty="0">
              <a:solidFill>
                <a:srgbClr val="1E3256"/>
              </a:solidFill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F5388FE-ABFC-48A7-AD3C-87C9C8E6A1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303336" cy="430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F706283-4C60-41FD-ABEE-A2E0331DC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748" y="2159686"/>
            <a:ext cx="3924088" cy="2538628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62F9862C-49D6-4F95-AB42-031D47139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15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6311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Cedric Schmitt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E7869F33-64B9-4EE8-BA1B-466006E12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16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17065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037E65-7D29-4C1B-B424-B0F3CE57F8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 err="1"/>
              <a:t>LocationManager</a:t>
            </a:r>
            <a:endParaRPr lang="de-DE" sz="1800" b="1" dirty="0"/>
          </a:p>
          <a:p>
            <a:r>
              <a:rPr lang="de-DE" sz="1800" dirty="0"/>
              <a:t>Ist das Herz unserer Anwendung</a:t>
            </a:r>
          </a:p>
          <a:p>
            <a:r>
              <a:rPr lang="de-DE" sz="1800" dirty="0"/>
              <a:t>Baut alle Orte auf und befüllt</a:t>
            </a:r>
            <a:br>
              <a:rPr lang="de-DE" sz="1800" dirty="0"/>
            </a:br>
            <a:r>
              <a:rPr lang="de-DE" sz="1800" dirty="0"/>
              <a:t>diese</a:t>
            </a:r>
          </a:p>
          <a:p>
            <a:r>
              <a:rPr lang="de-DE" sz="1800" dirty="0"/>
              <a:t>Alles möglich über eine Instanz </a:t>
            </a:r>
            <a:br>
              <a:rPr lang="de-DE" sz="1800" dirty="0"/>
            </a:br>
            <a:r>
              <a:rPr lang="de-DE" sz="1800" dirty="0"/>
              <a:t>dieses Objektes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8D39DC4-979B-40A5-9524-B2BF98A7D0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4097" b="83957"/>
          <a:stretch/>
        </p:blipFill>
        <p:spPr>
          <a:xfrm>
            <a:off x="6096000" y="1874662"/>
            <a:ext cx="5616795" cy="3582897"/>
          </a:xfrm>
          <a:prstGeom prst="rect">
            <a:avLst/>
          </a:prstGeom>
        </p:spPr>
      </p:pic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9775A9A6-CBB4-4F75-99A7-8087F5066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17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25939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996C4E7-29F6-4826-8E2A-E4A872733703}"/>
              </a:ext>
            </a:extLst>
          </p:cNvPr>
          <p:cNvSpPr txBox="1"/>
          <p:nvPr/>
        </p:nvSpPr>
        <p:spPr>
          <a:xfrm>
            <a:off x="7951685" y="3465957"/>
            <a:ext cx="33401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de-DE" b="1" dirty="0" err="1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CentralStorage</a:t>
            </a:r>
            <a:endParaRPr lang="de-DE" b="1" dirty="0">
              <a:solidFill>
                <a:srgbClr val="1E325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Hauptlager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Erbt von Location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Kann sich selbst komplett auffüllen</a:t>
            </a:r>
            <a:endParaRPr lang="en-US" sz="280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037E65-7D29-4C1B-B424-B0F3CE57F8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/>
              <a:t>Location</a:t>
            </a:r>
          </a:p>
          <a:p>
            <a:r>
              <a:rPr lang="de-DE" sz="1800" dirty="0"/>
              <a:t>Enthält alle Getränke</a:t>
            </a:r>
            <a:br>
              <a:rPr lang="de-DE" sz="1800" dirty="0"/>
            </a:br>
            <a:r>
              <a:rPr lang="de-DE" sz="1800" dirty="0"/>
              <a:t>(Kapazität und Lagerbestand)</a:t>
            </a:r>
          </a:p>
          <a:p>
            <a:r>
              <a:rPr lang="de-DE" sz="1800" dirty="0"/>
              <a:t>Beinhaltet die Logik zum </a:t>
            </a:r>
            <a:br>
              <a:rPr lang="de-DE" sz="1800" dirty="0"/>
            </a:br>
            <a:r>
              <a:rPr lang="de-DE" sz="1800" dirty="0"/>
              <a:t>Hinzufügen, verschieben, </a:t>
            </a:r>
            <a:br>
              <a:rPr lang="de-DE" sz="1800" dirty="0"/>
            </a:br>
            <a:r>
              <a:rPr lang="de-DE" sz="1800" dirty="0"/>
              <a:t>etc. von Getränken</a:t>
            </a:r>
          </a:p>
          <a:p>
            <a:r>
              <a:rPr lang="de-DE" sz="1800" dirty="0"/>
              <a:t>Kann Inhalt leserlich durch </a:t>
            </a:r>
            <a:br>
              <a:rPr lang="de-DE" sz="1800" dirty="0"/>
            </a:br>
            <a:r>
              <a:rPr lang="de-DE" sz="1800" dirty="0"/>
              <a:t>„</a:t>
            </a:r>
            <a:r>
              <a:rPr lang="de-DE" sz="1800" dirty="0" err="1"/>
              <a:t>toString</a:t>
            </a:r>
            <a:r>
              <a:rPr lang="de-DE" sz="1800" dirty="0"/>
              <a:t>()“ ausgeben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8D39DC4-979B-40A5-9524-B2BF98A7D0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81" t="21523" r="23529" b="53329"/>
          <a:stretch/>
        </p:blipFill>
        <p:spPr>
          <a:xfrm>
            <a:off x="5892800" y="1513820"/>
            <a:ext cx="9779000" cy="4719445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5404D7C-9020-4DCD-8A72-4F89E111B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18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5289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-0.38438 -4.81481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037E65-7D29-4C1B-B424-B0F3CE57F8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 err="1"/>
              <a:t>DrinkType</a:t>
            </a:r>
            <a:endParaRPr lang="de-DE" sz="1800" b="1" dirty="0"/>
          </a:p>
          <a:p>
            <a:r>
              <a:rPr lang="de-DE" sz="1800" dirty="0"/>
              <a:t>Abstrakte Klasse zur Definition eines Getränkes</a:t>
            </a:r>
          </a:p>
          <a:p>
            <a:r>
              <a:rPr lang="de-DE" sz="1800" dirty="0"/>
              <a:t>Name (Typ) des Getränks und maximale Anzahl </a:t>
            </a:r>
            <a:br>
              <a:rPr lang="de-DE" sz="1800" dirty="0"/>
            </a:br>
            <a:r>
              <a:rPr lang="de-DE" sz="1800" dirty="0"/>
              <a:t>Flaschen pro Kiste</a:t>
            </a:r>
          </a:p>
          <a:p>
            <a:r>
              <a:rPr lang="de-DE" sz="1800" dirty="0"/>
              <a:t>Beinhaltet Methoden zur Konvertierung zu und </a:t>
            </a:r>
            <a:br>
              <a:rPr lang="de-DE" sz="1800" dirty="0"/>
            </a:br>
            <a:r>
              <a:rPr lang="de-DE" sz="1800" dirty="0"/>
              <a:t>von Kisten</a:t>
            </a:r>
          </a:p>
          <a:p>
            <a:r>
              <a:rPr lang="de-DE" sz="1800" dirty="0"/>
              <a:t>Überschreibt „</a:t>
            </a:r>
            <a:r>
              <a:rPr lang="de-DE" sz="1800" dirty="0" err="1"/>
              <a:t>equals</a:t>
            </a:r>
            <a:r>
              <a:rPr lang="de-DE" sz="1800" dirty="0"/>
              <a:t>“ damit die Maps richtig </a:t>
            </a:r>
            <a:br>
              <a:rPr lang="de-DE" sz="1800" dirty="0"/>
            </a:br>
            <a:r>
              <a:rPr lang="de-DE" sz="1800" dirty="0"/>
              <a:t>funktionieren</a:t>
            </a:r>
          </a:p>
          <a:p>
            <a:r>
              <a:rPr lang="de-DE" sz="1800" dirty="0"/>
              <a:t>„</a:t>
            </a:r>
            <a:r>
              <a:rPr lang="de-DE" sz="1800" dirty="0" err="1"/>
              <a:t>getAttributes</a:t>
            </a:r>
            <a:r>
              <a:rPr lang="de-DE" sz="1800" dirty="0"/>
              <a:t>()“ abstrakt, sodass Tochterklassen </a:t>
            </a:r>
            <a:br>
              <a:rPr lang="de-DE" sz="1800" dirty="0"/>
            </a:br>
            <a:r>
              <a:rPr lang="de-DE" sz="1800" dirty="0"/>
              <a:t>diese überschreiben müssen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8D39DC4-979B-40A5-9524-B2BF98A7D0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84" t="60049" r="69956" b="22434"/>
          <a:stretch/>
        </p:blipFill>
        <p:spPr>
          <a:xfrm>
            <a:off x="8346071" y="1989228"/>
            <a:ext cx="3211298" cy="2744565"/>
          </a:xfrm>
          <a:prstGeom prst="rect">
            <a:avLst/>
          </a:prstGeom>
        </p:spPr>
      </p:pic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F57736D8-274B-42CD-8DF5-87562CC97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19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84356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8D39DC4-979B-40A5-9524-B2BF98A7D0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84" t="48085" r="38" b="32824"/>
          <a:stretch/>
        </p:blipFill>
        <p:spPr>
          <a:xfrm>
            <a:off x="2067484" y="3571161"/>
            <a:ext cx="9977763" cy="2742021"/>
          </a:xfrm>
          <a:prstGeom prst="rect">
            <a:avLst/>
          </a:pr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037E65-7D29-4C1B-B424-B0F3CE57F8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H="1">
            <a:off x="2240279" y="1763856"/>
            <a:ext cx="4600135" cy="4469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 err="1"/>
              <a:t>BottleType</a:t>
            </a:r>
            <a:r>
              <a:rPr lang="de-DE" sz="1800" b="1" dirty="0"/>
              <a:t> (</a:t>
            </a:r>
            <a:r>
              <a:rPr lang="de-DE" sz="1800" b="1" dirty="0" err="1"/>
              <a:t>Enum</a:t>
            </a:r>
            <a:r>
              <a:rPr lang="de-DE" sz="1800" b="1" dirty="0"/>
              <a:t>)</a:t>
            </a:r>
          </a:p>
          <a:p>
            <a:r>
              <a:rPr lang="de-DE" sz="1800" dirty="0"/>
              <a:t>Kann nur PLASTIC und GLASS als „Werte“ haben</a:t>
            </a:r>
          </a:p>
          <a:p>
            <a:r>
              <a:rPr lang="de-DE" sz="1800" dirty="0"/>
              <a:t>Überschreibt Konstruktor und </a:t>
            </a:r>
            <a:r>
              <a:rPr lang="de-DE" sz="1800" dirty="0" err="1"/>
              <a:t>toString</a:t>
            </a:r>
            <a:r>
              <a:rPr lang="de-DE" sz="1800" dirty="0"/>
              <a:t>-Methode um</a:t>
            </a:r>
            <a:br>
              <a:rPr lang="de-DE" sz="1800" dirty="0"/>
            </a:br>
            <a:r>
              <a:rPr lang="de-DE" sz="1800" dirty="0"/>
              <a:t>einen String als </a:t>
            </a:r>
            <a:r>
              <a:rPr lang="de-DE" sz="1800" dirty="0" err="1"/>
              <a:t>Textwert</a:t>
            </a:r>
            <a:r>
              <a:rPr lang="de-DE" sz="1800" dirty="0"/>
              <a:t> zu haben</a:t>
            </a:r>
          </a:p>
        </p:txBody>
      </p:sp>
      <p:sp>
        <p:nvSpPr>
          <p:cNvPr id="2111" name="Textplatzhalter 3">
            <a:extLst>
              <a:ext uri="{FF2B5EF4-FFF2-40B4-BE49-F238E27FC236}">
                <a16:creationId xmlns:a16="http://schemas.microsoft.com/office/drawing/2014/main" id="{09854DEA-0E2F-4165-B1A1-678224D64BA8}"/>
              </a:ext>
            </a:extLst>
          </p:cNvPr>
          <p:cNvSpPr txBox="1">
            <a:spLocks/>
          </p:cNvSpPr>
          <p:nvPr/>
        </p:nvSpPr>
        <p:spPr>
          <a:xfrm flipH="1">
            <a:off x="7013211" y="1989227"/>
            <a:ext cx="4600135" cy="4244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1E3256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err="1"/>
              <a:t>WaterSparkling</a:t>
            </a:r>
            <a:endParaRPr lang="en-US" sz="1800" b="1" dirty="0"/>
          </a:p>
          <a:p>
            <a:r>
              <a:rPr lang="en-US" sz="1800" dirty="0"/>
              <a:t>Muss </a:t>
            </a:r>
            <a:r>
              <a:rPr lang="en-US" sz="1800" dirty="0" err="1"/>
              <a:t>getAttributes</a:t>
            </a:r>
            <a:r>
              <a:rPr lang="en-US" sz="1800" dirty="0"/>
              <a:t>() </a:t>
            </a:r>
            <a:r>
              <a:rPr lang="en-US" sz="1800" dirty="0" err="1"/>
              <a:t>überschreiben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=&gt; </a:t>
            </a:r>
            <a:r>
              <a:rPr lang="en-US" sz="1800" dirty="0" err="1"/>
              <a:t>Gibt</a:t>
            </a:r>
            <a:r>
              <a:rPr lang="en-US" sz="1800" dirty="0"/>
              <a:t> </a:t>
            </a:r>
            <a:r>
              <a:rPr lang="en-US" sz="1800" dirty="0" err="1"/>
              <a:t>BottleType</a:t>
            </a:r>
            <a:r>
              <a:rPr lang="en-US" sz="1800" dirty="0"/>
              <a:t> und </a:t>
            </a:r>
            <a:r>
              <a:rPr lang="en-US" sz="1800" dirty="0" err="1"/>
              <a:t>ein</a:t>
            </a:r>
            <a:r>
              <a:rPr lang="en-US" sz="1800" dirty="0"/>
              <a:t> Label in </a:t>
            </a:r>
            <a:r>
              <a:rPr lang="en-US" sz="1800" dirty="0" err="1"/>
              <a:t>leserlicher</a:t>
            </a:r>
            <a:r>
              <a:rPr lang="en-US" sz="1800" dirty="0"/>
              <a:t> Form </a:t>
            </a:r>
            <a:r>
              <a:rPr lang="en-US" sz="1800" dirty="0" err="1"/>
              <a:t>aus</a:t>
            </a:r>
            <a:endParaRPr lang="en-US" sz="1800" dirty="0"/>
          </a:p>
        </p:txBody>
      </p:sp>
      <p:pic>
        <p:nvPicPr>
          <p:cNvPr id="2113" name="Grafik 21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685B0141-EB5B-4C28-9D49-0672CFFC6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672" y="3644788"/>
            <a:ext cx="7105606" cy="2233190"/>
          </a:xfrm>
          <a:prstGeom prst="rect">
            <a:avLst/>
          </a:prstGeom>
        </p:spPr>
      </p:pic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4C7F2B26-F7AD-4248-AAE4-D7F9DB0AF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20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90552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D14133B-E86F-4D1B-874B-A621F75C0741}"/>
              </a:ext>
            </a:extLst>
          </p:cNvPr>
          <p:cNvGrpSpPr/>
          <p:nvPr/>
        </p:nvGrpSpPr>
        <p:grpSpPr>
          <a:xfrm>
            <a:off x="2301991" y="3142861"/>
            <a:ext cx="2352675" cy="924768"/>
            <a:chOff x="2239963" y="3919343"/>
            <a:chExt cx="2352675" cy="924768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38FDF164-2B3D-41C7-BE15-4B76411F3BC0}"/>
                </a:ext>
              </a:extLst>
            </p:cNvPr>
            <p:cNvSpPr/>
            <p:nvPr/>
          </p:nvSpPr>
          <p:spPr>
            <a:xfrm>
              <a:off x="2239963" y="3919343"/>
              <a:ext cx="2352675" cy="92476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Lager A</a:t>
              </a:r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BADB64F-8EC0-4151-86D1-B9A2500F1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8472" y="3993486"/>
              <a:ext cx="684948" cy="776482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DD1116-86FB-4F3E-B267-8034059B32D4}"/>
              </a:ext>
            </a:extLst>
          </p:cNvPr>
          <p:cNvGrpSpPr/>
          <p:nvPr/>
        </p:nvGrpSpPr>
        <p:grpSpPr>
          <a:xfrm>
            <a:off x="2729028" y="4201589"/>
            <a:ext cx="2364864" cy="1950222"/>
            <a:chOff x="3973513" y="4197807"/>
            <a:chExt cx="2364864" cy="1950222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2540918-C430-4CE4-9D6B-D8C4149717E5}"/>
                </a:ext>
              </a:extLst>
            </p:cNvPr>
            <p:cNvGrpSpPr/>
            <p:nvPr/>
          </p:nvGrpSpPr>
          <p:grpSpPr>
            <a:xfrm>
              <a:off x="3973513" y="4197807"/>
              <a:ext cx="2060064" cy="1645422"/>
              <a:chOff x="3973513" y="4197807"/>
              <a:chExt cx="2060064" cy="1645422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E7472A7B-F07B-4687-B298-C92CEDC0CC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4BEE9D59-197F-4209-8B34-90550809F5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7" name="Grafik 16">
                <a:extLst>
                  <a:ext uri="{FF2B5EF4-FFF2-40B4-BE49-F238E27FC236}">
                    <a16:creationId xmlns:a16="http://schemas.microsoft.com/office/drawing/2014/main" id="{8DD54EF7-A087-4836-918F-25A243D0DE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966A319E-1A21-4FD3-AE36-D9B9E4DE55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BDB5DD24-515F-46DD-87A9-FDC00AE5AF6E}"/>
                </a:ext>
              </a:extLst>
            </p:cNvPr>
            <p:cNvGrpSpPr/>
            <p:nvPr/>
          </p:nvGrpSpPr>
          <p:grpSpPr>
            <a:xfrm>
              <a:off x="4125913" y="4350207"/>
              <a:ext cx="2060064" cy="1645422"/>
              <a:chOff x="3973513" y="4197807"/>
              <a:chExt cx="2060064" cy="1645422"/>
            </a:xfrm>
          </p:grpSpPr>
          <p:pic>
            <p:nvPicPr>
              <p:cNvPr id="27" name="Grafik 26">
                <a:extLst>
                  <a:ext uri="{FF2B5EF4-FFF2-40B4-BE49-F238E27FC236}">
                    <a16:creationId xmlns:a16="http://schemas.microsoft.com/office/drawing/2014/main" id="{BD53E2CA-68EA-457D-B269-59CF7ACEEB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AC99D01E-3EC9-42A6-BA3D-69D8105750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37EBF10E-1F2A-48D7-9135-9D06B9B0F6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06D1C6DC-7228-42AC-AA87-A48B2CBAC9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40F00B94-DCA1-41F9-9A88-E286F7AF443A}"/>
                </a:ext>
              </a:extLst>
            </p:cNvPr>
            <p:cNvGrpSpPr/>
            <p:nvPr/>
          </p:nvGrpSpPr>
          <p:grpSpPr>
            <a:xfrm>
              <a:off x="4278313" y="4502607"/>
              <a:ext cx="2060064" cy="1645422"/>
              <a:chOff x="3973513" y="4197807"/>
              <a:chExt cx="2060064" cy="1645422"/>
            </a:xfrm>
          </p:grpSpPr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id="{B70A9181-076C-4DF6-93CF-D2EE366D8B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3" name="Grafik 32">
                <a:extLst>
                  <a:ext uri="{FF2B5EF4-FFF2-40B4-BE49-F238E27FC236}">
                    <a16:creationId xmlns:a16="http://schemas.microsoft.com/office/drawing/2014/main" id="{3BEEFC8E-1E61-4F28-96E2-19FBC88BC3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ED633A0B-1D3A-4A28-B8CD-7B17B7E62C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5" name="Grafik 34">
                <a:extLst>
                  <a:ext uri="{FF2B5EF4-FFF2-40B4-BE49-F238E27FC236}">
                    <a16:creationId xmlns:a16="http://schemas.microsoft.com/office/drawing/2014/main" id="{A079134D-532E-4F05-8FCF-B7B2442ED4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0F768086-AC27-4075-8196-E76D00525160}"/>
              </a:ext>
            </a:extLst>
          </p:cNvPr>
          <p:cNvGrpSpPr/>
          <p:nvPr/>
        </p:nvGrpSpPr>
        <p:grpSpPr>
          <a:xfrm>
            <a:off x="8564563" y="3142861"/>
            <a:ext cx="2352675" cy="924768"/>
            <a:chOff x="2239963" y="3919343"/>
            <a:chExt cx="2352675" cy="924768"/>
          </a:xfrm>
        </p:grpSpPr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AACC2282-E47E-4B74-840E-9FFAC8AC43D9}"/>
                </a:ext>
              </a:extLst>
            </p:cNvPr>
            <p:cNvSpPr/>
            <p:nvPr/>
          </p:nvSpPr>
          <p:spPr>
            <a:xfrm>
              <a:off x="2239963" y="3919343"/>
              <a:ext cx="2352675" cy="92476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Lager B</a:t>
              </a:r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09EB4EC1-2D0A-4DF1-85CC-7A8A51DAF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8472" y="3993486"/>
              <a:ext cx="684948" cy="776482"/>
            </a:xfrm>
            <a:prstGeom prst="rect">
              <a:avLst/>
            </a:prstGeom>
          </p:spPr>
        </p:pic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6773E277-A621-4D71-9E20-CD4DB4F75568}"/>
              </a:ext>
            </a:extLst>
          </p:cNvPr>
          <p:cNvSpPr txBox="1"/>
          <p:nvPr/>
        </p:nvSpPr>
        <p:spPr>
          <a:xfrm>
            <a:off x="8497603" y="2699386"/>
            <a:ext cx="1880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Will: 40 Boxen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0C1DDA7-185F-4E56-85FE-4A94046546F4}"/>
              </a:ext>
            </a:extLst>
          </p:cNvPr>
          <p:cNvSpPr txBox="1"/>
          <p:nvPr/>
        </p:nvSpPr>
        <p:spPr>
          <a:xfrm>
            <a:off x="2245856" y="2697329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Hat: 400 </a:t>
            </a:r>
            <a:r>
              <a:rPr lang="en-US" dirty="0" err="1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Flaschen</a:t>
            </a:r>
            <a:endParaRPr lang="en-US" dirty="0">
              <a:solidFill>
                <a:srgbClr val="1E325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58CCB2C-69D2-4236-8CBF-2A1071570BEA}"/>
              </a:ext>
            </a:extLst>
          </p:cNvPr>
          <p:cNvSpPr txBox="1"/>
          <p:nvPr/>
        </p:nvSpPr>
        <p:spPr>
          <a:xfrm>
            <a:off x="5537553" y="2512646"/>
            <a:ext cx="287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Flaschen</a:t>
            </a:r>
            <a:r>
              <a:rPr lang="en-US" b="1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 Box:</a:t>
            </a:r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12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2230F6C-7B6D-4771-8D5F-469ED3DB13E2}"/>
              </a:ext>
            </a:extLst>
          </p:cNvPr>
          <p:cNvGrpSpPr/>
          <p:nvPr/>
        </p:nvGrpSpPr>
        <p:grpSpPr>
          <a:xfrm>
            <a:off x="5230644" y="3679456"/>
            <a:ext cx="2757941" cy="1865376"/>
            <a:chOff x="5346789" y="3672214"/>
            <a:chExt cx="2757941" cy="1865376"/>
          </a:xfrm>
        </p:grpSpPr>
        <p:sp>
          <p:nvSpPr>
            <p:cNvPr id="7" name="Pfeil: nach rechts 6">
              <a:extLst>
                <a:ext uri="{FF2B5EF4-FFF2-40B4-BE49-F238E27FC236}">
                  <a16:creationId xmlns:a16="http://schemas.microsoft.com/office/drawing/2014/main" id="{166187BB-CF87-4CFC-88C0-22C8BC2DEAB2}"/>
                </a:ext>
              </a:extLst>
            </p:cNvPr>
            <p:cNvSpPr/>
            <p:nvPr/>
          </p:nvSpPr>
          <p:spPr>
            <a:xfrm>
              <a:off x="5346789" y="4194347"/>
              <a:ext cx="2757941" cy="821111"/>
            </a:xfrm>
            <a:prstGeom prst="rightArrow">
              <a:avLst>
                <a:gd name="adj1" fmla="val 27728"/>
                <a:gd name="adj2" fmla="val 7784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Kreuz 5">
              <a:extLst>
                <a:ext uri="{FF2B5EF4-FFF2-40B4-BE49-F238E27FC236}">
                  <a16:creationId xmlns:a16="http://schemas.microsoft.com/office/drawing/2014/main" id="{389F9938-873C-43F3-9720-CAB644299AA4}"/>
                </a:ext>
              </a:extLst>
            </p:cNvPr>
            <p:cNvSpPr/>
            <p:nvPr/>
          </p:nvSpPr>
          <p:spPr>
            <a:xfrm rot="2700000">
              <a:off x="5659933" y="3672214"/>
              <a:ext cx="1865376" cy="1865376"/>
            </a:xfrm>
            <a:prstGeom prst="plus">
              <a:avLst>
                <a:gd name="adj" fmla="val 44692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946EC9DE-DCB6-498F-9A0A-DBD2EC1B7491}"/>
              </a:ext>
            </a:extLst>
          </p:cNvPr>
          <p:cNvSpPr txBox="1"/>
          <p:nvPr/>
        </p:nvSpPr>
        <p:spPr>
          <a:xfrm>
            <a:off x="5535145" y="2932817"/>
            <a:ext cx="1869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40 x 12 = 480</a:t>
            </a:r>
          </a:p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480 &gt; 400</a:t>
            </a:r>
          </a:p>
        </p:txBody>
      </p:sp>
      <p:sp>
        <p:nvSpPr>
          <p:cNvPr id="43" name="Fußzeilenplatzhalter 3">
            <a:extLst>
              <a:ext uri="{FF2B5EF4-FFF2-40B4-BE49-F238E27FC236}">
                <a16:creationId xmlns:a16="http://schemas.microsoft.com/office/drawing/2014/main" id="{60322CBA-2F8A-456D-A90F-9EE2E479A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21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11014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6" grpId="0"/>
      <p:bldP spid="37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E2555AD-F871-413A-866C-F20787F09B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Allgemeiner Aufbau mit Beispielen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6AC55C8-BA15-4432-BE09-C162CE5D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Beschreibung des Programms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D14133B-E86F-4D1B-874B-A621F75C0741}"/>
              </a:ext>
            </a:extLst>
          </p:cNvPr>
          <p:cNvGrpSpPr/>
          <p:nvPr/>
        </p:nvGrpSpPr>
        <p:grpSpPr>
          <a:xfrm>
            <a:off x="2301991" y="3142861"/>
            <a:ext cx="2352675" cy="924768"/>
            <a:chOff x="2239963" y="3919343"/>
            <a:chExt cx="2352675" cy="924768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38FDF164-2B3D-41C7-BE15-4B76411F3BC0}"/>
                </a:ext>
              </a:extLst>
            </p:cNvPr>
            <p:cNvSpPr/>
            <p:nvPr/>
          </p:nvSpPr>
          <p:spPr>
            <a:xfrm>
              <a:off x="2239963" y="3919343"/>
              <a:ext cx="2352675" cy="92476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Lager A</a:t>
              </a:r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BADB64F-8EC0-4151-86D1-B9A2500F1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8472" y="3993486"/>
              <a:ext cx="684948" cy="776482"/>
            </a:xfrm>
            <a:prstGeom prst="rect">
              <a:avLst/>
            </a:prstGeom>
          </p:spPr>
        </p:pic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0F768086-AC27-4075-8196-E76D00525160}"/>
              </a:ext>
            </a:extLst>
          </p:cNvPr>
          <p:cNvGrpSpPr/>
          <p:nvPr/>
        </p:nvGrpSpPr>
        <p:grpSpPr>
          <a:xfrm>
            <a:off x="8564563" y="3142861"/>
            <a:ext cx="2352675" cy="924768"/>
            <a:chOff x="2239963" y="3919343"/>
            <a:chExt cx="2352675" cy="924768"/>
          </a:xfrm>
        </p:grpSpPr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AACC2282-E47E-4B74-840E-9FFAC8AC43D9}"/>
                </a:ext>
              </a:extLst>
            </p:cNvPr>
            <p:cNvSpPr/>
            <p:nvPr/>
          </p:nvSpPr>
          <p:spPr>
            <a:xfrm>
              <a:off x="2239963" y="3919343"/>
              <a:ext cx="2352675" cy="92476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Lager B</a:t>
              </a:r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09EB4EC1-2D0A-4DF1-85CC-7A8A51DAF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8472" y="3993486"/>
              <a:ext cx="684948" cy="776482"/>
            </a:xfrm>
            <a:prstGeom prst="rect">
              <a:avLst/>
            </a:prstGeom>
          </p:spPr>
        </p:pic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6773E277-A621-4D71-9E20-CD4DB4F75568}"/>
              </a:ext>
            </a:extLst>
          </p:cNvPr>
          <p:cNvSpPr txBox="1"/>
          <p:nvPr/>
        </p:nvSpPr>
        <p:spPr>
          <a:xfrm>
            <a:off x="8497603" y="2699386"/>
            <a:ext cx="1880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Will: 20 Boxen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0C1DDA7-185F-4E56-85FE-4A94046546F4}"/>
              </a:ext>
            </a:extLst>
          </p:cNvPr>
          <p:cNvSpPr txBox="1"/>
          <p:nvPr/>
        </p:nvSpPr>
        <p:spPr>
          <a:xfrm>
            <a:off x="2245856" y="2697329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Hat: 400 </a:t>
            </a:r>
            <a:r>
              <a:rPr lang="en-US" dirty="0" err="1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Flaschen</a:t>
            </a:r>
            <a:endParaRPr lang="en-US" dirty="0">
              <a:solidFill>
                <a:srgbClr val="1E325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58CCB2C-69D2-4236-8CBF-2A1071570BEA}"/>
              </a:ext>
            </a:extLst>
          </p:cNvPr>
          <p:cNvSpPr txBox="1"/>
          <p:nvPr/>
        </p:nvSpPr>
        <p:spPr>
          <a:xfrm>
            <a:off x="5537553" y="2512646"/>
            <a:ext cx="287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Flaschen</a:t>
            </a:r>
            <a:r>
              <a:rPr lang="en-US" b="1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 Box:</a:t>
            </a:r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12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166187BB-CF87-4CFC-88C0-22C8BC2DEAB2}"/>
              </a:ext>
            </a:extLst>
          </p:cNvPr>
          <p:cNvSpPr/>
          <p:nvPr/>
        </p:nvSpPr>
        <p:spPr>
          <a:xfrm>
            <a:off x="5230644" y="4201589"/>
            <a:ext cx="2757941" cy="821111"/>
          </a:xfrm>
          <a:prstGeom prst="rightArrow">
            <a:avLst>
              <a:gd name="adj1" fmla="val 27728"/>
              <a:gd name="adj2" fmla="val 778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46EC9DE-DCB6-498F-9A0A-DBD2EC1B7491}"/>
              </a:ext>
            </a:extLst>
          </p:cNvPr>
          <p:cNvSpPr txBox="1"/>
          <p:nvPr/>
        </p:nvSpPr>
        <p:spPr>
          <a:xfrm>
            <a:off x="5535145" y="2932817"/>
            <a:ext cx="1869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 x 12 = 240</a:t>
            </a:r>
          </a:p>
          <a:p>
            <a:r>
              <a:rPr lang="en-US" dirty="0">
                <a:solidFill>
                  <a:srgbClr val="1E325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240 &lt; 400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C62949B-3D25-4C24-B971-6AFE8C64F0A5}"/>
              </a:ext>
            </a:extLst>
          </p:cNvPr>
          <p:cNvGrpSpPr/>
          <p:nvPr/>
        </p:nvGrpSpPr>
        <p:grpSpPr>
          <a:xfrm>
            <a:off x="5781844" y="3933640"/>
            <a:ext cx="936801" cy="1357008"/>
            <a:chOff x="8620291" y="5003862"/>
            <a:chExt cx="936801" cy="1357008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1548598-7A39-458E-82E6-46308E2E7891}"/>
                </a:ext>
              </a:extLst>
            </p:cNvPr>
            <p:cNvSpPr/>
            <p:nvPr/>
          </p:nvSpPr>
          <p:spPr>
            <a:xfrm rot="18496728">
              <a:off x="8842466" y="5702715"/>
              <a:ext cx="176414" cy="62076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1BF6849-1437-4901-9958-F86CDEDDD809}"/>
                </a:ext>
              </a:extLst>
            </p:cNvPr>
            <p:cNvSpPr/>
            <p:nvPr/>
          </p:nvSpPr>
          <p:spPr>
            <a:xfrm rot="18324602">
              <a:off x="8767400" y="5571178"/>
              <a:ext cx="1357008" cy="222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DD1116-86FB-4F3E-B267-8034059B32D4}"/>
              </a:ext>
            </a:extLst>
          </p:cNvPr>
          <p:cNvGrpSpPr/>
          <p:nvPr/>
        </p:nvGrpSpPr>
        <p:grpSpPr>
          <a:xfrm>
            <a:off x="2729028" y="4201589"/>
            <a:ext cx="2364864" cy="1950222"/>
            <a:chOff x="3973513" y="4197807"/>
            <a:chExt cx="2364864" cy="1950222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2540918-C430-4CE4-9D6B-D8C4149717E5}"/>
                </a:ext>
              </a:extLst>
            </p:cNvPr>
            <p:cNvGrpSpPr/>
            <p:nvPr/>
          </p:nvGrpSpPr>
          <p:grpSpPr>
            <a:xfrm>
              <a:off x="3973513" y="4197807"/>
              <a:ext cx="2060064" cy="1645422"/>
              <a:chOff x="3973513" y="4197807"/>
              <a:chExt cx="2060064" cy="1645422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E7472A7B-F07B-4687-B298-C92CEDC0CC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4BEE9D59-197F-4209-8B34-90550809F5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7" name="Grafik 16">
                <a:extLst>
                  <a:ext uri="{FF2B5EF4-FFF2-40B4-BE49-F238E27FC236}">
                    <a16:creationId xmlns:a16="http://schemas.microsoft.com/office/drawing/2014/main" id="{8DD54EF7-A087-4836-918F-25A243D0DE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966A319E-1A21-4FD3-AE36-D9B9E4DE55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BDB5DD24-515F-46DD-87A9-FDC00AE5AF6E}"/>
                </a:ext>
              </a:extLst>
            </p:cNvPr>
            <p:cNvGrpSpPr/>
            <p:nvPr/>
          </p:nvGrpSpPr>
          <p:grpSpPr>
            <a:xfrm>
              <a:off x="4125913" y="4350207"/>
              <a:ext cx="2060064" cy="1645422"/>
              <a:chOff x="3973513" y="4197807"/>
              <a:chExt cx="2060064" cy="1645422"/>
            </a:xfrm>
          </p:grpSpPr>
          <p:pic>
            <p:nvPicPr>
              <p:cNvPr id="27" name="Grafik 26">
                <a:extLst>
                  <a:ext uri="{FF2B5EF4-FFF2-40B4-BE49-F238E27FC236}">
                    <a16:creationId xmlns:a16="http://schemas.microsoft.com/office/drawing/2014/main" id="{BD53E2CA-68EA-457D-B269-59CF7ACEEB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AC99D01E-3EC9-42A6-BA3D-69D8105750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29" name="Grafik 28">
                <a:extLst>
                  <a:ext uri="{FF2B5EF4-FFF2-40B4-BE49-F238E27FC236}">
                    <a16:creationId xmlns:a16="http://schemas.microsoft.com/office/drawing/2014/main" id="{37EBF10E-1F2A-48D7-9135-9D06B9B0F6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06D1C6DC-7228-42AC-AA87-A48B2CBAC9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40F00B94-DCA1-41F9-9A88-E286F7AF443A}"/>
                </a:ext>
              </a:extLst>
            </p:cNvPr>
            <p:cNvGrpSpPr/>
            <p:nvPr/>
          </p:nvGrpSpPr>
          <p:grpSpPr>
            <a:xfrm>
              <a:off x="4278313" y="4502607"/>
              <a:ext cx="2060064" cy="1645422"/>
              <a:chOff x="3973513" y="4197807"/>
              <a:chExt cx="2060064" cy="1645422"/>
            </a:xfrm>
          </p:grpSpPr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id="{B70A9181-076C-4DF6-93CF-D2EE366D8B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3973513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3" name="Grafik 32">
                <a:extLst>
                  <a:ext uri="{FF2B5EF4-FFF2-40B4-BE49-F238E27FC236}">
                    <a16:creationId xmlns:a16="http://schemas.microsoft.com/office/drawing/2014/main" id="{3BEEFC8E-1E61-4F28-96E2-19FBC88BC3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453826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ED633A0B-1D3A-4A28-B8CD-7B17B7E62C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4934139" y="4197807"/>
                <a:ext cx="619125" cy="1645422"/>
              </a:xfrm>
              <a:prstGeom prst="rect">
                <a:avLst/>
              </a:prstGeom>
            </p:spPr>
          </p:pic>
          <p:pic>
            <p:nvPicPr>
              <p:cNvPr id="35" name="Grafik 34">
                <a:extLst>
                  <a:ext uri="{FF2B5EF4-FFF2-40B4-BE49-F238E27FC236}">
                    <a16:creationId xmlns:a16="http://schemas.microsoft.com/office/drawing/2014/main" id="{A079134D-532E-4F05-8FCF-B7B2442ED4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31193" r="31180"/>
              <a:stretch/>
            </p:blipFill>
            <p:spPr>
              <a:xfrm>
                <a:off x="5414452" y="4197807"/>
                <a:ext cx="619125" cy="1645422"/>
              </a:xfrm>
              <a:prstGeom prst="rect">
                <a:avLst/>
              </a:prstGeom>
            </p:spPr>
          </p:pic>
        </p:grpSp>
      </p:grpSp>
      <p:sp>
        <p:nvSpPr>
          <p:cNvPr id="42" name="Fußzeilenplatzhalter 3">
            <a:extLst>
              <a:ext uri="{FF2B5EF4-FFF2-40B4-BE49-F238E27FC236}">
                <a16:creationId xmlns:a16="http://schemas.microsoft.com/office/drawing/2014/main" id="{1EDC6466-B88A-4B69-9612-040FA32B3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22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42386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0.45534 0.0039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60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6" grpId="0"/>
      <p:bldP spid="37" grpId="0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A1BD70-D0B9-47F6-A8F1-6593BEB926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Jan Bauer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0FCB76A-66DF-4F23-BF06-145AB59E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Programmvorführung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75E35C-1D31-48AF-B9FE-6632A176B4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BD3D1776-6201-4C70-9977-112D234D4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23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31377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A1BD70-D0B9-47F6-A8F1-6593BEB926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Felix Köhler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0FCB76A-66DF-4F23-BF06-145AB59E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&amp; Ausblick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75E35C-1D31-48AF-B9FE-6632A176B4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BD3D1776-6201-4C70-9977-112D234D4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24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26913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B06542-DE0A-43A7-BA10-1C51268A6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Rückblick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593962-E613-4204-A8CF-5623165F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&amp;  Ausblick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4AB8C2-66FC-46A7-B78C-AD6A47E470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Trennung in einzelne Gruppen mit verschiedenen Aufgabengebieten</a:t>
            </a:r>
          </a:p>
          <a:p>
            <a:r>
              <a:rPr lang="de-DE" sz="1800" dirty="0"/>
              <a:t>Zwischenzeitige Tests und Austausch zwischen Gruppen</a:t>
            </a:r>
          </a:p>
          <a:p>
            <a:endParaRPr lang="de-DE" sz="1800" dirty="0"/>
          </a:p>
          <a:p>
            <a:endParaRPr lang="de-DE" sz="1800" dirty="0"/>
          </a:p>
          <a:p>
            <a:endParaRPr lang="de-DE" sz="1800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84061531-A525-4561-9225-77D01E18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25 von 28 | Rödermark, 19.03.2021</a:t>
            </a:r>
            <a:endParaRPr lang="sv-SE" dirty="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222F275-AE57-4157-AF66-A35657B88E7E}"/>
              </a:ext>
            </a:extLst>
          </p:cNvPr>
          <p:cNvSpPr/>
          <p:nvPr/>
        </p:nvSpPr>
        <p:spPr>
          <a:xfrm>
            <a:off x="2506663" y="3450517"/>
            <a:ext cx="2520000" cy="1273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GUI:</a:t>
            </a:r>
          </a:p>
          <a:p>
            <a:pPr algn="ctr"/>
            <a:r>
              <a:rPr lang="es-ES" dirty="0"/>
              <a:t>Jan Bauer</a:t>
            </a:r>
          </a:p>
          <a:p>
            <a:pPr algn="ctr"/>
            <a:r>
              <a:rPr lang="es-ES" dirty="0" err="1"/>
              <a:t>Jonas</a:t>
            </a:r>
            <a:r>
              <a:rPr lang="es-ES" dirty="0"/>
              <a:t> </a:t>
            </a:r>
            <a:r>
              <a:rPr lang="es-ES" dirty="0" err="1"/>
              <a:t>Kroker</a:t>
            </a:r>
            <a:endParaRPr lang="es-ES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35EEC8F-0C23-4C1B-A1EA-276D748C7D5D}"/>
              </a:ext>
            </a:extLst>
          </p:cNvPr>
          <p:cNvSpPr/>
          <p:nvPr/>
        </p:nvSpPr>
        <p:spPr>
          <a:xfrm>
            <a:off x="5393710" y="3450518"/>
            <a:ext cx="2520000" cy="1273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Klassen</a:t>
            </a:r>
            <a:r>
              <a:rPr lang="es-ES" dirty="0"/>
              <a:t> &amp; </a:t>
            </a:r>
            <a:r>
              <a:rPr lang="es-ES" dirty="0" err="1"/>
              <a:t>Vererbung</a:t>
            </a:r>
            <a:r>
              <a:rPr lang="es-ES" dirty="0"/>
              <a:t>:</a:t>
            </a:r>
          </a:p>
          <a:p>
            <a:pPr algn="ctr"/>
            <a:r>
              <a:rPr lang="es-ES" dirty="0" err="1"/>
              <a:t>Sebastian</a:t>
            </a:r>
            <a:r>
              <a:rPr lang="es-ES" dirty="0"/>
              <a:t> </a:t>
            </a:r>
            <a:r>
              <a:rPr lang="es-ES" dirty="0" err="1"/>
              <a:t>Kirner</a:t>
            </a:r>
            <a:endParaRPr lang="es-ES" dirty="0"/>
          </a:p>
          <a:p>
            <a:pPr algn="ctr"/>
            <a:r>
              <a:rPr lang="es-ES" dirty="0" err="1"/>
              <a:t>Cedric</a:t>
            </a:r>
            <a:r>
              <a:rPr lang="es-ES" dirty="0"/>
              <a:t> Schmitt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4AC32E0-1A84-4BB7-977A-4035D9BFC2B9}"/>
              </a:ext>
            </a:extLst>
          </p:cNvPr>
          <p:cNvSpPr/>
          <p:nvPr/>
        </p:nvSpPr>
        <p:spPr>
          <a:xfrm>
            <a:off x="8257897" y="3450517"/>
            <a:ext cx="2520000" cy="12738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Logik</a:t>
            </a:r>
            <a:r>
              <a:rPr lang="es-ES" dirty="0"/>
              <a:t>:</a:t>
            </a:r>
          </a:p>
          <a:p>
            <a:pPr algn="ctr"/>
            <a:r>
              <a:rPr lang="es-ES" dirty="0" err="1"/>
              <a:t>Simon</a:t>
            </a:r>
            <a:r>
              <a:rPr lang="es-ES" dirty="0"/>
              <a:t> </a:t>
            </a:r>
            <a:r>
              <a:rPr lang="es-ES" dirty="0" err="1"/>
              <a:t>Hoim</a:t>
            </a:r>
            <a:endParaRPr lang="es-ES" dirty="0"/>
          </a:p>
          <a:p>
            <a:pPr algn="ctr"/>
            <a:r>
              <a:rPr lang="es-ES" dirty="0"/>
              <a:t>Felix </a:t>
            </a:r>
            <a:r>
              <a:rPr lang="es-ES" dirty="0" err="1"/>
              <a:t>Köhler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3465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B06542-DE0A-43A7-BA10-1C51268A6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1600" dirty="0"/>
              <a:t>Erweiterung durch neue Funktionen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593962-E613-4204-A8CF-5623165F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&amp;  Ausblick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4AB8C2-66FC-46A7-B78C-AD6A47E470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Automatisierung von Nachbestellungen</a:t>
            </a:r>
          </a:p>
          <a:p>
            <a:pPr marL="0" indent="0">
              <a:buNone/>
            </a:pPr>
            <a:endParaRPr lang="de-DE" sz="1800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84061531-A525-4561-9225-77D01E18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26 von 28 | Rödermark, 19.03.2021</a:t>
            </a:r>
            <a:endParaRPr lang="sv-S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DDF5A7-F267-4644-8E19-5E179FD8A0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791" y="2721078"/>
            <a:ext cx="1819850" cy="18198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2DA5BFE-8B26-4B50-9251-A5F638549E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69793" y="2729517"/>
            <a:ext cx="6768115" cy="162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0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B06542-DE0A-43A7-BA10-1C51268A6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Benutzer für einzelne Standorte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593962-E613-4204-A8CF-5623165F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&amp;  Ausblick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4AB8C2-66FC-46A7-B78C-AD6A47E470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Auflistung		Wer, Wann, Was, Wo</a:t>
            </a:r>
          </a:p>
          <a:p>
            <a:r>
              <a:rPr lang="de-DE" sz="1800" dirty="0"/>
              <a:t>Einbau verschiedener Trigger</a:t>
            </a:r>
          </a:p>
          <a:p>
            <a:pPr marL="0" indent="0">
              <a:buNone/>
            </a:pPr>
            <a:endParaRPr lang="de-DE" sz="1800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84061531-A525-4561-9225-77D01E18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27 von 28 | Rödermark, 19.03.2021</a:t>
            </a:r>
            <a:endParaRPr lang="sv-SE" dirty="0"/>
          </a:p>
        </p:txBody>
      </p:sp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C810BF10-FB67-4CB6-8DE5-E927AA6D0E92}"/>
              </a:ext>
            </a:extLst>
          </p:cNvPr>
          <p:cNvSpPr/>
          <p:nvPr/>
        </p:nvSpPr>
        <p:spPr>
          <a:xfrm>
            <a:off x="3900196" y="1854481"/>
            <a:ext cx="1051249" cy="551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AB2409D-CF07-4378-8951-EE48AE216B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998" y="3435183"/>
            <a:ext cx="1900965" cy="190096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B3CDE71-D1A2-425D-BB1C-B387E84809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226" y="3438497"/>
            <a:ext cx="1658369" cy="165836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266CBDF-A643-4B3D-B459-73D22DD54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032" y="3729605"/>
            <a:ext cx="1312125" cy="131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3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AF0BD19-1E56-46F1-BB9D-0F3D3AE5E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C8A79C1-B8E1-431A-9957-32FB9F36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CE445A-307C-48E0-B9EF-13B095FAE6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hlinkClick r:id="rId2"/>
              </a:rPr>
              <a:t>https://materialdesignicons.com/</a:t>
            </a:r>
            <a:r>
              <a:rPr lang="de-DE" sz="1800" dirty="0"/>
              <a:t> (Icon: </a:t>
            </a:r>
            <a:r>
              <a:rPr lang="de-DE" sz="1800" dirty="0" err="1"/>
              <a:t>bottle</a:t>
            </a:r>
            <a:r>
              <a:rPr lang="de-DE" sz="1800" dirty="0"/>
              <a:t>-soda-classic-</a:t>
            </a:r>
            <a:r>
              <a:rPr lang="de-DE" sz="1800" dirty="0" err="1"/>
              <a:t>outline</a:t>
            </a:r>
            <a:r>
              <a:rPr lang="de-DE" sz="1800" dirty="0"/>
              <a:t>; Logodesigner: </a:t>
            </a:r>
            <a:r>
              <a:rPr lang="de-DE" sz="1800" dirty="0" err="1"/>
              <a:t>Simran</a:t>
            </a:r>
            <a:r>
              <a:rPr lang="de-DE" sz="1800" dirty="0"/>
              <a:t> </a:t>
            </a:r>
            <a:r>
              <a:rPr lang="de-DE" sz="1800" dirty="0">
                <a:hlinkClick r:id="rId3"/>
              </a:rPr>
              <a:t>@XT3000</a:t>
            </a:r>
            <a:r>
              <a:rPr lang="de-DE" sz="1800" dirty="0"/>
              <a:t>)</a:t>
            </a:r>
          </a:p>
          <a:p>
            <a:r>
              <a:rPr lang="de-DE" sz="1800" dirty="0">
                <a:hlinkClick r:id="rId4"/>
              </a:rPr>
              <a:t>https://www.flaticon.com/de/kostenlose-icons</a:t>
            </a:r>
            <a:r>
              <a:rPr lang="de-DE" sz="1800" dirty="0"/>
              <a:t> </a:t>
            </a:r>
          </a:p>
          <a:p>
            <a:r>
              <a:rPr lang="de-DE" sz="1800" dirty="0"/>
              <a:t>Logodesign: Lasse </a:t>
            </a:r>
            <a:r>
              <a:rPr lang="de-DE" sz="1800" dirty="0" err="1"/>
              <a:t>Soenksen</a:t>
            </a:r>
            <a:endParaRPr lang="de-DE" sz="1800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E1B5F13C-C5C5-4F4C-B6DD-E00652E1F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35120" y="6481823"/>
            <a:ext cx="4322583" cy="376177"/>
          </a:xfrm>
        </p:spPr>
        <p:txBody>
          <a:bodyPr/>
          <a:lstStyle/>
          <a:p>
            <a:r>
              <a:rPr lang="de-DE" sz="1800" dirty="0"/>
              <a:t>Seite 28 von 28 | Rödermark, 19.03.2021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7202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Microsoft Office PowerPoint</Application>
  <PresentationFormat>Breitbild</PresentationFormat>
  <Paragraphs>306</Paragraphs>
  <Slides>29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40" baseType="lpstr">
      <vt:lpstr>3 of 9 Barcode</vt:lpstr>
      <vt:lpstr>Arial</vt:lpstr>
      <vt:lpstr>Arial Narrow</vt:lpstr>
      <vt:lpstr>Calibri</vt:lpstr>
      <vt:lpstr>Calibri Light</vt:lpstr>
      <vt:lpstr>Cambria Math</vt:lpstr>
      <vt:lpstr>Courier New</vt:lpstr>
      <vt:lpstr>Symbol</vt:lpstr>
      <vt:lpstr>Verdana</vt:lpstr>
      <vt:lpstr>Wingdings</vt:lpstr>
      <vt:lpstr>Office Theme</vt:lpstr>
      <vt:lpstr>PowerPoint-Präsentation</vt:lpstr>
      <vt:lpstr>PowerPoint-Präsentation</vt:lpstr>
      <vt:lpstr>Aufgabenbeschreibung</vt:lpstr>
      <vt:lpstr>Aufgabenbeschreibung</vt:lpstr>
      <vt:lpstr>Darstellung von Lösungsalternativen</vt:lpstr>
      <vt:lpstr>Darstellung von Lösungsalternativen</vt:lpstr>
      <vt:lpstr>Darstellung von Lösungsalternativen</vt:lpstr>
      <vt:lpstr>Darstellung von Lösungsalternativen</vt:lpstr>
      <vt:lpstr>Darstellung von Lösungsalternativen</vt:lpstr>
      <vt:lpstr>Begründete Auswahl einer Alternative</vt:lpstr>
      <vt:lpstr>Begründete Auswahl eine Alternative</vt:lpstr>
      <vt:lpstr>Begründete Auswahl eine Alternative</vt:lpstr>
      <vt:lpstr>Begründete Auswahl eine Alternative</vt:lpstr>
      <vt:lpstr>Begründete Auswahl eine Alternative</vt:lpstr>
      <vt:lpstr>Begründete Auswahl eine Alternative</vt:lpstr>
      <vt:lpstr>Begründete Auswahl eine Alternative</vt:lpstr>
      <vt:lpstr>Beschreibung des Programms</vt:lpstr>
      <vt:lpstr>Beschreibung des Programms</vt:lpstr>
      <vt:lpstr>Beschreibung des Programms</vt:lpstr>
      <vt:lpstr>Beschreibung des Programms</vt:lpstr>
      <vt:lpstr>Beschreibung des Programms</vt:lpstr>
      <vt:lpstr>Beschreibung des Programms</vt:lpstr>
      <vt:lpstr>Beschreibung des Programms</vt:lpstr>
      <vt:lpstr>Programmvorführung</vt:lpstr>
      <vt:lpstr>Fazit &amp; Ausblick</vt:lpstr>
      <vt:lpstr>Fazit &amp;  Ausblick</vt:lpstr>
      <vt:lpstr>Fazit &amp;  Ausblick</vt:lpstr>
      <vt:lpstr>Fazit &amp;  Ausblick</vt:lpstr>
      <vt:lpstr>Quellen</vt:lpstr>
    </vt:vector>
  </TitlesOfParts>
  <Company>BridgingIT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Kroker</dc:creator>
  <cp:lastModifiedBy>Jonas Kroker</cp:lastModifiedBy>
  <cp:revision>87</cp:revision>
  <dcterms:created xsi:type="dcterms:W3CDTF">2017-07-25T08:53:18Z</dcterms:created>
  <dcterms:modified xsi:type="dcterms:W3CDTF">2021-03-18T15:50:19Z</dcterms:modified>
</cp:coreProperties>
</file>